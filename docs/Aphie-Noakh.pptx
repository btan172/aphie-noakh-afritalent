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7896"/>
    <a:srgbClr val="657099"/>
    <a:srgbClr val="64689A"/>
    <a:srgbClr val="4042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5ECD37-A0AB-4BE1-4ECE-09D1AC011C64}"/>
              </a:ext>
            </a:extLst>
          </p:cNvPr>
          <p:cNvSpPr>
            <a:spLocks noGrp="1"/>
          </p:cNvSpPr>
          <p:nvPr>
            <p:ph type="ctrTitle"/>
          </p:nvPr>
        </p:nvSpPr>
        <p:spPr>
          <a:xfrm>
            <a:off x="1524000" y="1122363"/>
            <a:ext cx="9144000" cy="2387600"/>
          </a:xfrm>
        </p:spPr>
        <p:txBody>
          <a:bodyPr anchor="b"/>
          <a:lstStyle>
            <a:lvl1pPr algn="ctr">
              <a:defRPr sz="6000"/>
            </a:lvl1pPr>
          </a:lstStyle>
          <a:p>
            <a:r>
              <a:rPr lang="fr-CA"/>
              <a:t>Modifier le style du titre</a:t>
            </a:r>
            <a:endParaRPr lang="fr-FR"/>
          </a:p>
        </p:txBody>
      </p:sp>
      <p:sp>
        <p:nvSpPr>
          <p:cNvPr id="3" name="Sous-titre 2">
            <a:extLst>
              <a:ext uri="{FF2B5EF4-FFF2-40B4-BE49-F238E27FC236}">
                <a16:creationId xmlns:a16="http://schemas.microsoft.com/office/drawing/2014/main" id="{F2C50211-17BA-4E70-22CE-A7AE2D22E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CA"/>
              <a:t>Modifier le style des sous-titres du masque</a:t>
            </a:r>
            <a:endParaRPr lang="fr-FR"/>
          </a:p>
        </p:txBody>
      </p:sp>
      <p:sp>
        <p:nvSpPr>
          <p:cNvPr id="4" name="Espace réservé de la date 3">
            <a:extLst>
              <a:ext uri="{FF2B5EF4-FFF2-40B4-BE49-F238E27FC236}">
                <a16:creationId xmlns:a16="http://schemas.microsoft.com/office/drawing/2014/main" id="{047F3F81-56BE-D192-BC38-117BA83D4A74}"/>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5" name="Espace réservé du pied de page 4">
            <a:extLst>
              <a:ext uri="{FF2B5EF4-FFF2-40B4-BE49-F238E27FC236}">
                <a16:creationId xmlns:a16="http://schemas.microsoft.com/office/drawing/2014/main" id="{29568880-F4B8-F47C-62BE-321E8EA0F8C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7A601FF-DC81-CA39-123D-8A708119B879}"/>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351188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7A9E60-5F69-9938-AF1B-DA2A5329B0CA}"/>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87F1DC17-0C10-B181-0070-8F7E9DCAFAB1}"/>
              </a:ext>
            </a:extLst>
          </p:cNvPr>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682E6444-552E-AFEC-ABFF-C060C93C65CC}"/>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5" name="Espace réservé du pied de page 4">
            <a:extLst>
              <a:ext uri="{FF2B5EF4-FFF2-40B4-BE49-F238E27FC236}">
                <a16:creationId xmlns:a16="http://schemas.microsoft.com/office/drawing/2014/main" id="{7C20A12F-22C8-690C-582F-4DBE59733FB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F0F081-5092-82E6-64FE-CB0F9F510B0E}"/>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348700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0B72FD-637D-9FDA-8665-86C2CEBB1678}"/>
              </a:ext>
            </a:extLst>
          </p:cNvPr>
          <p:cNvSpPr>
            <a:spLocks noGrp="1"/>
          </p:cNvSpPr>
          <p:nvPr>
            <p:ph type="title"/>
          </p:nvPr>
        </p:nvSpPr>
        <p:spPr>
          <a:xfrm>
            <a:off x="831850" y="1709738"/>
            <a:ext cx="10515600" cy="2852737"/>
          </a:xfrm>
        </p:spPr>
        <p:txBody>
          <a:bodyPr anchor="b"/>
          <a:lstStyle>
            <a:lvl1pPr>
              <a:defRPr sz="6000"/>
            </a:lvl1pPr>
          </a:lstStyle>
          <a:p>
            <a:r>
              <a:rPr lang="fr-CA"/>
              <a:t>Modifier le style du titre</a:t>
            </a:r>
            <a:endParaRPr lang="fr-FR"/>
          </a:p>
        </p:txBody>
      </p:sp>
      <p:sp>
        <p:nvSpPr>
          <p:cNvPr id="3" name="Espace réservé du texte 2">
            <a:extLst>
              <a:ext uri="{FF2B5EF4-FFF2-40B4-BE49-F238E27FC236}">
                <a16:creationId xmlns:a16="http://schemas.microsoft.com/office/drawing/2014/main" id="{5F6442F2-6460-A18B-D154-0D3E877D3D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CA"/>
              <a:t>Cliquez pour modifier les styles du texte du masque</a:t>
            </a:r>
          </a:p>
        </p:txBody>
      </p:sp>
      <p:sp>
        <p:nvSpPr>
          <p:cNvPr id="4" name="Espace réservé de la date 3">
            <a:extLst>
              <a:ext uri="{FF2B5EF4-FFF2-40B4-BE49-F238E27FC236}">
                <a16:creationId xmlns:a16="http://schemas.microsoft.com/office/drawing/2014/main" id="{07496E92-91F9-DDE2-7902-D309F886918A}"/>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5" name="Espace réservé du pied de page 4">
            <a:extLst>
              <a:ext uri="{FF2B5EF4-FFF2-40B4-BE49-F238E27FC236}">
                <a16:creationId xmlns:a16="http://schemas.microsoft.com/office/drawing/2014/main" id="{9692F1AA-2372-4E0F-92BC-5F9F8FA669C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205B28F-DAB1-C701-96B1-A64686B540D4}"/>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4094841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5BE4D5-330F-556F-89C6-0F8FF7F13FB9}"/>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6B193489-E652-3E40-941D-03F8844FCDF7}"/>
              </a:ext>
            </a:extLst>
          </p:cNvPr>
          <p:cNvSpPr>
            <a:spLocks noGrp="1"/>
          </p:cNvSpPr>
          <p:nvPr>
            <p:ph sz="half" idx="1"/>
          </p:nvPr>
        </p:nvSpPr>
        <p:spPr>
          <a:xfrm>
            <a:off x="838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contenu 3">
            <a:extLst>
              <a:ext uri="{FF2B5EF4-FFF2-40B4-BE49-F238E27FC236}">
                <a16:creationId xmlns:a16="http://schemas.microsoft.com/office/drawing/2014/main" id="{A5C67B00-6AC1-94F3-260C-173988B180D6}"/>
              </a:ext>
            </a:extLst>
          </p:cNvPr>
          <p:cNvSpPr>
            <a:spLocks noGrp="1"/>
          </p:cNvSpPr>
          <p:nvPr>
            <p:ph sz="half" idx="2"/>
          </p:nvPr>
        </p:nvSpPr>
        <p:spPr>
          <a:xfrm>
            <a:off x="6172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e la date 4">
            <a:extLst>
              <a:ext uri="{FF2B5EF4-FFF2-40B4-BE49-F238E27FC236}">
                <a16:creationId xmlns:a16="http://schemas.microsoft.com/office/drawing/2014/main" id="{708A6A63-7B7B-147B-E9FA-DBC4EB152AC5}"/>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6" name="Espace réservé du pied de page 5">
            <a:extLst>
              <a:ext uri="{FF2B5EF4-FFF2-40B4-BE49-F238E27FC236}">
                <a16:creationId xmlns:a16="http://schemas.microsoft.com/office/drawing/2014/main" id="{967DE720-8D4E-2A8F-9B49-FBF5BDCC737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036E7B-1130-FB05-B77A-E635A4201E09}"/>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3960598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9FB12F-3EE1-7599-46A0-B525949B83C7}"/>
              </a:ext>
            </a:extLst>
          </p:cNvPr>
          <p:cNvSpPr>
            <a:spLocks noGrp="1"/>
          </p:cNvSpPr>
          <p:nvPr>
            <p:ph type="title"/>
          </p:nvPr>
        </p:nvSpPr>
        <p:spPr>
          <a:xfrm>
            <a:off x="839788" y="365125"/>
            <a:ext cx="10515600" cy="1325563"/>
          </a:xfrm>
        </p:spPr>
        <p:txBody>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3EE274B8-E2F3-73B7-C0A1-A0C79D8534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Espace réservé du contenu 3">
            <a:extLst>
              <a:ext uri="{FF2B5EF4-FFF2-40B4-BE49-F238E27FC236}">
                <a16:creationId xmlns:a16="http://schemas.microsoft.com/office/drawing/2014/main" id="{8DD081B1-8895-E446-A16F-5A9770A4A6B1}"/>
              </a:ext>
            </a:extLst>
          </p:cNvPr>
          <p:cNvSpPr>
            <a:spLocks noGrp="1"/>
          </p:cNvSpPr>
          <p:nvPr>
            <p:ph sz="half" idx="2"/>
          </p:nvPr>
        </p:nvSpPr>
        <p:spPr>
          <a:xfrm>
            <a:off x="839788" y="2505075"/>
            <a:ext cx="5157787"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u texte 4">
            <a:extLst>
              <a:ext uri="{FF2B5EF4-FFF2-40B4-BE49-F238E27FC236}">
                <a16:creationId xmlns:a16="http://schemas.microsoft.com/office/drawing/2014/main" id="{B1F27600-18FF-5978-F722-8636025FC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Espace réservé du contenu 5">
            <a:extLst>
              <a:ext uri="{FF2B5EF4-FFF2-40B4-BE49-F238E27FC236}">
                <a16:creationId xmlns:a16="http://schemas.microsoft.com/office/drawing/2014/main" id="{626DECF1-3BC5-B92B-F254-0EB7A2DBF5F3}"/>
              </a:ext>
            </a:extLst>
          </p:cNvPr>
          <p:cNvSpPr>
            <a:spLocks noGrp="1"/>
          </p:cNvSpPr>
          <p:nvPr>
            <p:ph sz="quarter" idx="4"/>
          </p:nvPr>
        </p:nvSpPr>
        <p:spPr>
          <a:xfrm>
            <a:off x="6172200" y="2505075"/>
            <a:ext cx="5183188"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7" name="Espace réservé de la date 6">
            <a:extLst>
              <a:ext uri="{FF2B5EF4-FFF2-40B4-BE49-F238E27FC236}">
                <a16:creationId xmlns:a16="http://schemas.microsoft.com/office/drawing/2014/main" id="{59D5D6B4-46D0-4604-63BB-714F1F035457}"/>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8" name="Espace réservé du pied de page 7">
            <a:extLst>
              <a:ext uri="{FF2B5EF4-FFF2-40B4-BE49-F238E27FC236}">
                <a16:creationId xmlns:a16="http://schemas.microsoft.com/office/drawing/2014/main" id="{1DDA0CCE-7163-E6E8-1133-CC7D28878F7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FFF3F4B-CECC-C9C9-8378-A9D89468A7D1}"/>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2439012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4F0ADA-59D8-7810-5F36-718F885520FF}"/>
              </a:ext>
            </a:extLst>
          </p:cNvPr>
          <p:cNvSpPr>
            <a:spLocks noGrp="1"/>
          </p:cNvSpPr>
          <p:nvPr>
            <p:ph type="title"/>
          </p:nvPr>
        </p:nvSpPr>
        <p:spPr/>
        <p:txBody>
          <a:bodyPr/>
          <a:lstStyle/>
          <a:p>
            <a:r>
              <a:rPr lang="fr-CA"/>
              <a:t>Modifier le style du titre</a:t>
            </a:r>
            <a:endParaRPr lang="fr-FR"/>
          </a:p>
        </p:txBody>
      </p:sp>
      <p:sp>
        <p:nvSpPr>
          <p:cNvPr id="3" name="Espace réservé de la date 2">
            <a:extLst>
              <a:ext uri="{FF2B5EF4-FFF2-40B4-BE49-F238E27FC236}">
                <a16:creationId xmlns:a16="http://schemas.microsoft.com/office/drawing/2014/main" id="{3C123AAB-8CD0-DA26-1830-41FB80C1CEEE}"/>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4" name="Espace réservé du pied de page 3">
            <a:extLst>
              <a:ext uri="{FF2B5EF4-FFF2-40B4-BE49-F238E27FC236}">
                <a16:creationId xmlns:a16="http://schemas.microsoft.com/office/drawing/2014/main" id="{B4AF4C00-6D0E-197C-4458-24EBF40C9D5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066A6FA-4FF8-F66F-CBB3-001EA951F5CB}"/>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660162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202D5C4-1048-94D5-3B32-015D7ACBB430}"/>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3" name="Espace réservé du pied de page 2">
            <a:extLst>
              <a:ext uri="{FF2B5EF4-FFF2-40B4-BE49-F238E27FC236}">
                <a16:creationId xmlns:a16="http://schemas.microsoft.com/office/drawing/2014/main" id="{1FE98F88-AF4A-8555-A961-CD7A8A7C57A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F6AFEDD-7258-039D-D1CD-1F21A9D2669F}"/>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679372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887829-3254-BBBB-B9B4-54327CE8BDF5}"/>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du contenu 2">
            <a:extLst>
              <a:ext uri="{FF2B5EF4-FFF2-40B4-BE49-F238E27FC236}">
                <a16:creationId xmlns:a16="http://schemas.microsoft.com/office/drawing/2014/main" id="{54051937-E507-A260-F1C8-97CBE2E3F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texte 3">
            <a:extLst>
              <a:ext uri="{FF2B5EF4-FFF2-40B4-BE49-F238E27FC236}">
                <a16:creationId xmlns:a16="http://schemas.microsoft.com/office/drawing/2014/main" id="{C474C9F8-7373-A60B-CBF3-2CC99F95E6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315C07E1-0536-C30F-70A8-9695CD670689}"/>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6" name="Espace réservé du pied de page 5">
            <a:extLst>
              <a:ext uri="{FF2B5EF4-FFF2-40B4-BE49-F238E27FC236}">
                <a16:creationId xmlns:a16="http://schemas.microsoft.com/office/drawing/2014/main" id="{5A134218-0FD3-A708-6EA3-521EAD7F419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9DB0E42-369F-57F6-6624-686DD804DEEC}"/>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2297932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C33B8F-5DC0-AED1-9789-25802F12B102}"/>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pour une image  2">
            <a:extLst>
              <a:ext uri="{FF2B5EF4-FFF2-40B4-BE49-F238E27FC236}">
                <a16:creationId xmlns:a16="http://schemas.microsoft.com/office/drawing/2014/main" id="{0441D86B-AA3F-7512-2BEC-F9C7A31DF3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0C6DC1A-CF2F-E1B0-6BD8-942B3B44D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F5404A8C-2495-08E9-518C-F8272444C4CE}"/>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6" name="Espace réservé du pied de page 5">
            <a:extLst>
              <a:ext uri="{FF2B5EF4-FFF2-40B4-BE49-F238E27FC236}">
                <a16:creationId xmlns:a16="http://schemas.microsoft.com/office/drawing/2014/main" id="{03FD1C8F-F502-D5AA-B676-36D16A2B838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4D4119C-A7B6-8B7A-13D7-FCED8D580517}"/>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3399657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78C3E8-83C7-CCDF-0D4C-174FF69B1029}"/>
              </a:ext>
            </a:extLst>
          </p:cNvPr>
          <p:cNvSpPr>
            <a:spLocks noGrp="1"/>
          </p:cNvSpPr>
          <p:nvPr>
            <p:ph type="title"/>
          </p:nvPr>
        </p:nvSpPr>
        <p:spPr/>
        <p:txBody>
          <a:bodyPr/>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FCEE1FF6-AAB9-1B22-D19D-9C26C2343AF4}"/>
              </a:ext>
            </a:extLst>
          </p:cNvPr>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60C6946B-2B37-1B87-B528-7AA425D8426F}"/>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5" name="Espace réservé du pied de page 4">
            <a:extLst>
              <a:ext uri="{FF2B5EF4-FFF2-40B4-BE49-F238E27FC236}">
                <a16:creationId xmlns:a16="http://schemas.microsoft.com/office/drawing/2014/main" id="{E7C1EEEE-61AF-2500-5308-9C427B9799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E6F298-B3E7-9578-8711-9B4110F21001}"/>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307029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9D68F55-EFED-585B-39B6-BBE009B74F8C}"/>
              </a:ext>
            </a:extLst>
          </p:cNvPr>
          <p:cNvSpPr>
            <a:spLocks noGrp="1"/>
          </p:cNvSpPr>
          <p:nvPr>
            <p:ph type="title" orient="vert"/>
          </p:nvPr>
        </p:nvSpPr>
        <p:spPr>
          <a:xfrm>
            <a:off x="8724900" y="365125"/>
            <a:ext cx="2628900" cy="5811838"/>
          </a:xfrm>
        </p:spPr>
        <p:txBody>
          <a:bodyPr vert="eaVert"/>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0C25CD6E-C8F6-F6C1-5D5C-5AF45B1B4E52}"/>
              </a:ext>
            </a:extLst>
          </p:cNvPr>
          <p:cNvSpPr>
            <a:spLocks noGrp="1"/>
          </p:cNvSpPr>
          <p:nvPr>
            <p:ph type="body" orient="vert" idx="1"/>
          </p:nvPr>
        </p:nvSpPr>
        <p:spPr>
          <a:xfrm>
            <a:off x="838200" y="365125"/>
            <a:ext cx="7734300" cy="5811838"/>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5E55A347-8F27-1ABD-2A14-1F4F263A2B7F}"/>
              </a:ext>
            </a:extLst>
          </p:cNvPr>
          <p:cNvSpPr>
            <a:spLocks noGrp="1"/>
          </p:cNvSpPr>
          <p:nvPr>
            <p:ph type="dt" sz="half" idx="10"/>
          </p:nvPr>
        </p:nvSpPr>
        <p:spPr/>
        <p:txBody>
          <a:bodyPr/>
          <a:lstStyle/>
          <a:p>
            <a:fld id="{060DEF26-B77B-4FA7-8D91-61EC2139BB0D}" type="datetimeFigureOut">
              <a:rPr lang="fr-FR" smtClean="0"/>
              <a:t>04/06/2026</a:t>
            </a:fld>
            <a:endParaRPr lang="fr-FR"/>
          </a:p>
        </p:txBody>
      </p:sp>
      <p:sp>
        <p:nvSpPr>
          <p:cNvPr id="5" name="Espace réservé du pied de page 4">
            <a:extLst>
              <a:ext uri="{FF2B5EF4-FFF2-40B4-BE49-F238E27FC236}">
                <a16:creationId xmlns:a16="http://schemas.microsoft.com/office/drawing/2014/main" id="{2C46201D-0DA4-C361-38F0-52A71272C0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5A93CD-3C7D-F275-85AF-CA27DD5E6ECC}"/>
              </a:ext>
            </a:extLst>
          </p:cNvPr>
          <p:cNvSpPr>
            <a:spLocks noGrp="1"/>
          </p:cNvSpPr>
          <p:nvPr>
            <p:ph type="sldNum" sz="quarter" idx="12"/>
          </p:nvPr>
        </p:nvSpPr>
        <p:spPr/>
        <p:txBody>
          <a:bodyPr/>
          <a:lstStyle/>
          <a:p>
            <a:fld id="{CDCBE31E-DDE1-4836-826C-9A89A9A001CB}" type="slidenum">
              <a:rPr lang="fr-FR" smtClean="0"/>
              <a:t>‹n°›</a:t>
            </a:fld>
            <a:endParaRPr lang="fr-FR"/>
          </a:p>
        </p:txBody>
      </p:sp>
    </p:spTree>
    <p:extLst>
      <p:ext uri="{BB962C8B-B14F-4D97-AF65-F5344CB8AC3E}">
        <p14:creationId xmlns:p14="http://schemas.microsoft.com/office/powerpoint/2010/main" val="3485116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687896"/>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FEF51FA-73CD-337C-9294-52226B55C0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74951BA7-071E-2A09-5CEF-3D28324E52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7E0A866D-D7A2-B2C3-6EEC-811817BA36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0DEF26-B77B-4FA7-8D91-61EC2139BB0D}" type="datetimeFigureOut">
              <a:rPr lang="fr-FR" smtClean="0"/>
              <a:t>04/06/2026</a:t>
            </a:fld>
            <a:endParaRPr lang="fr-FR"/>
          </a:p>
        </p:txBody>
      </p:sp>
      <p:sp>
        <p:nvSpPr>
          <p:cNvPr id="5" name="Espace réservé du pied de page 4">
            <a:extLst>
              <a:ext uri="{FF2B5EF4-FFF2-40B4-BE49-F238E27FC236}">
                <a16:creationId xmlns:a16="http://schemas.microsoft.com/office/drawing/2014/main" id="{387641A8-C646-53C6-38E6-6B334A3BB0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5744FE4-AC97-8E9F-1517-4D03A95FEC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CBE31E-DDE1-4836-826C-9A89A9A001CB}" type="slidenum">
              <a:rPr lang="fr-FR" smtClean="0"/>
              <a:t>‹n°›</a:t>
            </a:fld>
            <a:endParaRPr lang="fr-FR"/>
          </a:p>
        </p:txBody>
      </p:sp>
    </p:spTree>
    <p:extLst>
      <p:ext uri="{BB962C8B-B14F-4D97-AF65-F5344CB8AC3E}">
        <p14:creationId xmlns:p14="http://schemas.microsoft.com/office/powerpoint/2010/main" val="2157838971"/>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btan172.github.io/Aphie-Noakh-AfriTalent/"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btan172.github.io/Aphie-Noakh-AfriTalen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4A3268E5-4E55-08BE-2C26-23FCB6BC9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2" y="34531"/>
            <a:ext cx="3210896" cy="2238708"/>
          </a:xfrm>
          <a:prstGeom prst="rect">
            <a:avLst/>
          </a:prstGeom>
        </p:spPr>
      </p:pic>
      <p:pic>
        <p:nvPicPr>
          <p:cNvPr id="11" name="Image 10">
            <a:extLst>
              <a:ext uri="{FF2B5EF4-FFF2-40B4-BE49-F238E27FC236}">
                <a16:creationId xmlns:a16="http://schemas.microsoft.com/office/drawing/2014/main" id="{151067AE-692B-9285-FD2D-84D9F0002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7498" y="577815"/>
            <a:ext cx="3077004" cy="885949"/>
          </a:xfrm>
          <a:prstGeom prst="rect">
            <a:avLst/>
          </a:prstGeom>
        </p:spPr>
      </p:pic>
      <p:sp>
        <p:nvSpPr>
          <p:cNvPr id="13" name="ZoneTexte 12">
            <a:extLst>
              <a:ext uri="{FF2B5EF4-FFF2-40B4-BE49-F238E27FC236}">
                <a16:creationId xmlns:a16="http://schemas.microsoft.com/office/drawing/2014/main" id="{2750ECB5-32AC-E860-36B9-B04BB6F5099A}"/>
              </a:ext>
            </a:extLst>
          </p:cNvPr>
          <p:cNvSpPr txBox="1"/>
          <p:nvPr/>
        </p:nvSpPr>
        <p:spPr>
          <a:xfrm>
            <a:off x="4521200" y="34531"/>
            <a:ext cx="3149600" cy="458074"/>
          </a:xfrm>
          <a:prstGeom prst="rect">
            <a:avLst/>
          </a:prstGeom>
          <a:noFill/>
          <a:ln>
            <a:noFill/>
          </a:ln>
        </p:spPr>
        <p:txBody>
          <a:bodyPr wrap="square" rtlCol="0">
            <a:spAutoFit/>
          </a:bodyPr>
          <a:lstStyle/>
          <a:p>
            <a:pPr algn="ctr">
              <a:lnSpc>
                <a:spcPct val="150000"/>
              </a:lnSpc>
            </a:pPr>
            <a:r>
              <a:rPr lang="fr-FR" dirty="0">
                <a:solidFill>
                  <a:schemeClr val="bg1"/>
                </a:solidFill>
                <a:latin typeface="Times New Roman" panose="02020603050405020304" pitchFamily="18" charset="0"/>
                <a:cs typeface="Times New Roman" panose="02020603050405020304" pitchFamily="18" charset="0"/>
              </a:rPr>
              <a:t>REPUBLIQUE DU SENEGAL</a:t>
            </a:r>
          </a:p>
        </p:txBody>
      </p:sp>
      <p:sp>
        <p:nvSpPr>
          <p:cNvPr id="15" name="ZoneTexte 14">
            <a:extLst>
              <a:ext uri="{FF2B5EF4-FFF2-40B4-BE49-F238E27FC236}">
                <a16:creationId xmlns:a16="http://schemas.microsoft.com/office/drawing/2014/main" id="{63F08607-7750-08C2-199B-4C5A2848F4EF}"/>
              </a:ext>
            </a:extLst>
          </p:cNvPr>
          <p:cNvSpPr txBox="1"/>
          <p:nvPr/>
        </p:nvSpPr>
        <p:spPr>
          <a:xfrm>
            <a:off x="4729480" y="1463764"/>
            <a:ext cx="2733040" cy="369332"/>
          </a:xfrm>
          <a:prstGeom prst="rect">
            <a:avLst/>
          </a:prstGeom>
          <a:noFill/>
        </p:spPr>
        <p:txBody>
          <a:bodyPr wrap="square" rtlCol="0">
            <a:spAutoFit/>
          </a:bodyPr>
          <a:lstStyle/>
          <a:p>
            <a:r>
              <a:rPr lang="fr-FR" b="1" dirty="0">
                <a:solidFill>
                  <a:schemeClr val="bg1"/>
                </a:solidFill>
                <a:latin typeface="Times New Roman" panose="02020603050405020304" pitchFamily="18" charset="0"/>
                <a:cs typeface="Times New Roman" panose="02020603050405020304" pitchFamily="18" charset="0"/>
              </a:rPr>
              <a:t>Un peuple-Un but-Une foi</a:t>
            </a:r>
          </a:p>
        </p:txBody>
      </p:sp>
      <p:pic>
        <p:nvPicPr>
          <p:cNvPr id="18" name="Image 17">
            <a:extLst>
              <a:ext uri="{FF2B5EF4-FFF2-40B4-BE49-F238E27FC236}">
                <a16:creationId xmlns:a16="http://schemas.microsoft.com/office/drawing/2014/main" id="{5E5E9847-294C-5057-8DB4-40C4190714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1640" y="1833096"/>
            <a:ext cx="6182588" cy="2029108"/>
          </a:xfrm>
          <a:prstGeom prst="rect">
            <a:avLst/>
          </a:prstGeom>
        </p:spPr>
      </p:pic>
      <p:sp>
        <p:nvSpPr>
          <p:cNvPr id="19" name="ZoneTexte 18">
            <a:extLst>
              <a:ext uri="{FF2B5EF4-FFF2-40B4-BE49-F238E27FC236}">
                <a16:creationId xmlns:a16="http://schemas.microsoft.com/office/drawing/2014/main" id="{FD48D6E2-9660-3B06-95D9-B7AAB7FEA97B}"/>
              </a:ext>
            </a:extLst>
          </p:cNvPr>
          <p:cNvSpPr txBox="1"/>
          <p:nvPr/>
        </p:nvSpPr>
        <p:spPr>
          <a:xfrm>
            <a:off x="2129245" y="3862204"/>
            <a:ext cx="8260081" cy="1261884"/>
          </a:xfrm>
          <a:prstGeom prst="rect">
            <a:avLst/>
          </a:prstGeom>
          <a:noFill/>
        </p:spPr>
        <p:txBody>
          <a:bodyPr wrap="square" rtlCol="0">
            <a:spAutoFit/>
          </a:bodyPr>
          <a:lstStyle/>
          <a:p>
            <a:pPr algn="ctr"/>
            <a:r>
              <a:rPr lang="fr-FR" sz="3600" b="1" dirty="0">
                <a:solidFill>
                  <a:schemeClr val="bg1"/>
                </a:solidFill>
                <a:latin typeface="Times New Roman" panose="02020603050405020304" pitchFamily="18" charset="0"/>
                <a:cs typeface="Times New Roman" panose="02020603050405020304" pitchFamily="18" charset="0"/>
              </a:rPr>
              <a:t>Conception d’un site de freelances: </a:t>
            </a:r>
            <a:r>
              <a:rPr lang="fr-FR" sz="4000" b="1" dirty="0">
                <a:solidFill>
                  <a:schemeClr val="bg1"/>
                </a:solidFill>
                <a:latin typeface="Times New Roman" panose="02020603050405020304" pitchFamily="18" charset="0"/>
                <a:cs typeface="Times New Roman" panose="02020603050405020304" pitchFamily="18" charset="0"/>
              </a:rPr>
              <a:t>AfriTalent</a:t>
            </a:r>
          </a:p>
        </p:txBody>
      </p:sp>
      <p:sp>
        <p:nvSpPr>
          <p:cNvPr id="20" name="ZoneTexte 19">
            <a:extLst>
              <a:ext uri="{FF2B5EF4-FFF2-40B4-BE49-F238E27FC236}">
                <a16:creationId xmlns:a16="http://schemas.microsoft.com/office/drawing/2014/main" id="{9F119E7E-8FA0-F6D9-74AD-40524A66FED1}"/>
              </a:ext>
            </a:extLst>
          </p:cNvPr>
          <p:cNvSpPr txBox="1"/>
          <p:nvPr/>
        </p:nvSpPr>
        <p:spPr>
          <a:xfrm>
            <a:off x="652948" y="5590903"/>
            <a:ext cx="2100943" cy="923330"/>
          </a:xfrm>
          <a:prstGeom prst="rect">
            <a:avLst/>
          </a:prstGeom>
          <a:noFill/>
        </p:spPr>
        <p:txBody>
          <a:bodyPr wrap="square" rtlCol="0">
            <a:spAutoFit/>
          </a:bodyPr>
          <a:lstStyle/>
          <a:p>
            <a:pPr algn="ctr"/>
            <a:r>
              <a:rPr lang="fr-FR" u="sng" dirty="0">
                <a:solidFill>
                  <a:schemeClr val="bg1"/>
                </a:solidFill>
                <a:latin typeface="Times New Roman" panose="02020603050405020304" pitchFamily="18" charset="0"/>
                <a:cs typeface="Times New Roman" panose="02020603050405020304" pitchFamily="18" charset="0"/>
              </a:rPr>
              <a:t>Présenté par</a:t>
            </a:r>
            <a:r>
              <a:rPr lang="fr-FR" dirty="0">
                <a:solidFill>
                  <a:schemeClr val="bg1"/>
                </a:solidFill>
                <a:latin typeface="Times New Roman" panose="02020603050405020304" pitchFamily="18" charset="0"/>
                <a:cs typeface="Times New Roman" panose="02020603050405020304" pitchFamily="18" charset="0"/>
              </a:rPr>
              <a:t>:</a:t>
            </a:r>
          </a:p>
          <a:p>
            <a:pPr algn="ctr"/>
            <a:r>
              <a:rPr lang="fr-FR" dirty="0">
                <a:solidFill>
                  <a:schemeClr val="bg1"/>
                </a:solidFill>
                <a:latin typeface="Times New Roman" panose="02020603050405020304" pitchFamily="18" charset="0"/>
                <a:cs typeface="Times New Roman" panose="02020603050405020304" pitchFamily="18" charset="0"/>
              </a:rPr>
              <a:t> Mme: Aphie-Noakh</a:t>
            </a:r>
          </a:p>
          <a:p>
            <a:pPr algn="ctr"/>
            <a:r>
              <a:rPr lang="fr-FR" dirty="0">
                <a:solidFill>
                  <a:schemeClr val="bg1"/>
                </a:solidFill>
                <a:latin typeface="Times New Roman" panose="02020603050405020304" pitchFamily="18" charset="0"/>
                <a:cs typeface="Times New Roman" panose="02020603050405020304" pitchFamily="18" charset="0"/>
              </a:rPr>
              <a:t>L1CS</a:t>
            </a:r>
          </a:p>
        </p:txBody>
      </p:sp>
      <p:sp>
        <p:nvSpPr>
          <p:cNvPr id="21" name="ZoneTexte 20">
            <a:extLst>
              <a:ext uri="{FF2B5EF4-FFF2-40B4-BE49-F238E27FC236}">
                <a16:creationId xmlns:a16="http://schemas.microsoft.com/office/drawing/2014/main" id="{BCA3D14B-D15E-6000-FFE5-851A960C45B8}"/>
              </a:ext>
            </a:extLst>
          </p:cNvPr>
          <p:cNvSpPr txBox="1"/>
          <p:nvPr/>
        </p:nvSpPr>
        <p:spPr>
          <a:xfrm>
            <a:off x="9075783" y="5590903"/>
            <a:ext cx="2286000" cy="646331"/>
          </a:xfrm>
          <a:prstGeom prst="rect">
            <a:avLst/>
          </a:prstGeom>
          <a:noFill/>
        </p:spPr>
        <p:txBody>
          <a:bodyPr wrap="square" rtlCol="0">
            <a:spAutoFit/>
          </a:bodyPr>
          <a:lstStyle/>
          <a:p>
            <a:pPr algn="ctr"/>
            <a:r>
              <a:rPr lang="fr-FR" u="sng" dirty="0">
                <a:solidFill>
                  <a:schemeClr val="bg1"/>
                </a:solidFill>
                <a:latin typeface="Times New Roman" panose="02020603050405020304" pitchFamily="18" charset="0"/>
                <a:cs typeface="Times New Roman" panose="02020603050405020304" pitchFamily="18" charset="0"/>
              </a:rPr>
              <a:t>Sous la direction de</a:t>
            </a:r>
            <a:r>
              <a:rPr lang="fr-FR" dirty="0">
                <a:solidFill>
                  <a:schemeClr val="bg1"/>
                </a:solidFill>
                <a:latin typeface="Times New Roman" panose="02020603050405020304" pitchFamily="18" charset="0"/>
                <a:cs typeface="Times New Roman" panose="02020603050405020304" pitchFamily="18" charset="0"/>
              </a:rPr>
              <a:t>: M. Robert DIASSE</a:t>
            </a:r>
          </a:p>
        </p:txBody>
      </p:sp>
      <p:sp>
        <p:nvSpPr>
          <p:cNvPr id="22" name="ZoneTexte 21">
            <a:extLst>
              <a:ext uri="{FF2B5EF4-FFF2-40B4-BE49-F238E27FC236}">
                <a16:creationId xmlns:a16="http://schemas.microsoft.com/office/drawing/2014/main" id="{0BA48189-1D83-9167-6238-2E05E4138AB4}"/>
              </a:ext>
            </a:extLst>
          </p:cNvPr>
          <p:cNvSpPr txBox="1"/>
          <p:nvPr/>
        </p:nvSpPr>
        <p:spPr>
          <a:xfrm>
            <a:off x="4376420" y="6095519"/>
            <a:ext cx="3439160" cy="369332"/>
          </a:xfrm>
          <a:prstGeom prst="rect">
            <a:avLst/>
          </a:prstGeom>
          <a:noFill/>
        </p:spPr>
        <p:txBody>
          <a:bodyPr wrap="square" rtlCol="0">
            <a:spAutoFit/>
          </a:bodyPr>
          <a:lstStyle/>
          <a:p>
            <a:pPr algn="ctr"/>
            <a:r>
              <a:rPr lang="fr-FR" u="sng" dirty="0">
                <a:solidFill>
                  <a:schemeClr val="bg1"/>
                </a:solidFill>
                <a:latin typeface="Times New Roman" panose="02020603050405020304" pitchFamily="18" charset="0"/>
                <a:cs typeface="Times New Roman" panose="02020603050405020304" pitchFamily="18" charset="0"/>
              </a:rPr>
              <a:t>Année Académique</a:t>
            </a:r>
            <a:r>
              <a:rPr lang="fr-FR" dirty="0">
                <a:solidFill>
                  <a:schemeClr val="bg1"/>
                </a:solidFill>
                <a:latin typeface="Times New Roman" panose="02020603050405020304" pitchFamily="18" charset="0"/>
                <a:cs typeface="Times New Roman" panose="02020603050405020304" pitchFamily="18" charset="0"/>
              </a:rPr>
              <a:t> : 2025-2026</a:t>
            </a:r>
          </a:p>
        </p:txBody>
      </p:sp>
    </p:spTree>
    <p:extLst>
      <p:ext uri="{BB962C8B-B14F-4D97-AF65-F5344CB8AC3E}">
        <p14:creationId xmlns:p14="http://schemas.microsoft.com/office/powerpoint/2010/main" val="12922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B4B6496-B7CC-884F-78AC-910C096F1731}"/>
              </a:ext>
            </a:extLst>
          </p:cNvPr>
          <p:cNvSpPr txBox="1"/>
          <p:nvPr/>
        </p:nvSpPr>
        <p:spPr>
          <a:xfrm>
            <a:off x="359228" y="190342"/>
            <a:ext cx="11473542" cy="707886"/>
          </a:xfrm>
          <a:prstGeom prst="rect">
            <a:avLst/>
          </a:prstGeom>
          <a:noFill/>
        </p:spPr>
        <p:txBody>
          <a:bodyPr wrap="square" rtlCol="0">
            <a:spAutoFit/>
          </a:bodyPr>
          <a:lstStyle/>
          <a:p>
            <a:pPr algn="ctr"/>
            <a:r>
              <a:rPr lang="fr-FR" sz="4000" b="1" u="sng" dirty="0">
                <a:solidFill>
                  <a:schemeClr val="bg1"/>
                </a:solidFill>
                <a:latin typeface="Times New Roman" panose="02020603050405020304" pitchFamily="18" charset="0"/>
                <a:cs typeface="Times New Roman" panose="02020603050405020304" pitchFamily="18" charset="0"/>
              </a:rPr>
              <a:t>PRESENTATION DU PROJET AFRITALENT</a:t>
            </a:r>
          </a:p>
        </p:txBody>
      </p:sp>
      <p:sp>
        <p:nvSpPr>
          <p:cNvPr id="4" name="Rectangle 3">
            <a:extLst>
              <a:ext uri="{FF2B5EF4-FFF2-40B4-BE49-F238E27FC236}">
                <a16:creationId xmlns:a16="http://schemas.microsoft.com/office/drawing/2014/main" id="{A6D5141B-FE83-3C93-FA1A-BEB28FB5DCC6}"/>
              </a:ext>
            </a:extLst>
          </p:cNvPr>
          <p:cNvSpPr/>
          <p:nvPr/>
        </p:nvSpPr>
        <p:spPr>
          <a:xfrm>
            <a:off x="423181" y="1175657"/>
            <a:ext cx="3505200" cy="1850572"/>
          </a:xfrm>
          <a:prstGeom prst="rect">
            <a:avLst/>
          </a:prstGeom>
          <a:solidFill>
            <a:srgbClr val="68789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I. Introduction &amp; Vision du Projet</a:t>
            </a:r>
          </a:p>
          <a:p>
            <a:pPr algn="ctr"/>
            <a:r>
              <a:rPr lang="fr-FR" dirty="0"/>
              <a:t>Contexte du marché freelance tech en Afrique et objectifs d'AfriTalent.</a:t>
            </a:r>
            <a:endParaRPr lang="fr-FR" dirty="0">
              <a:solidFill>
                <a:schemeClr val="bg1"/>
              </a:solidFill>
            </a:endParaRPr>
          </a:p>
        </p:txBody>
      </p:sp>
      <p:sp>
        <p:nvSpPr>
          <p:cNvPr id="5" name="Rectangle 4">
            <a:extLst>
              <a:ext uri="{FF2B5EF4-FFF2-40B4-BE49-F238E27FC236}">
                <a16:creationId xmlns:a16="http://schemas.microsoft.com/office/drawing/2014/main" id="{F51554C1-351F-050B-249C-DF1F8D0F5580}"/>
              </a:ext>
            </a:extLst>
          </p:cNvPr>
          <p:cNvSpPr/>
          <p:nvPr/>
        </p:nvSpPr>
        <p:spPr>
          <a:xfrm>
            <a:off x="4479470" y="3926943"/>
            <a:ext cx="3233057" cy="2296077"/>
          </a:xfrm>
          <a:prstGeom prst="rect">
            <a:avLst/>
          </a:prstGeom>
          <a:solidFill>
            <a:srgbClr val="68789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V. Gestion de Projet &amp; Déploiement</a:t>
            </a:r>
            <a:r>
              <a:rPr lang="fr-FR" dirty="0"/>
              <a:t> </a:t>
            </a:r>
          </a:p>
          <a:p>
            <a:pPr algn="ctr"/>
            <a:r>
              <a:rPr lang="fr-FR" dirty="0"/>
              <a:t>Workflow Git (les 10 commits), hébergement sur GitHub Pages </a:t>
            </a:r>
          </a:p>
          <a:p>
            <a:pPr algn="ctr"/>
            <a:r>
              <a:rPr lang="fr-FR" dirty="0"/>
              <a:t>Difficultés rencontrées et solutions apportées,</a:t>
            </a:r>
          </a:p>
          <a:p>
            <a:pPr algn="ctr"/>
            <a:r>
              <a:rPr lang="fr-FR" dirty="0">
                <a:solidFill>
                  <a:schemeClr val="bg1"/>
                </a:solidFill>
              </a:rPr>
              <a:t>Ressources et documentation</a:t>
            </a:r>
          </a:p>
        </p:txBody>
      </p:sp>
      <p:sp>
        <p:nvSpPr>
          <p:cNvPr id="6" name="Rectangle 5">
            <a:extLst>
              <a:ext uri="{FF2B5EF4-FFF2-40B4-BE49-F238E27FC236}">
                <a16:creationId xmlns:a16="http://schemas.microsoft.com/office/drawing/2014/main" id="{8F011F6B-B5EA-A458-7F73-DE6847B559EC}"/>
              </a:ext>
            </a:extLst>
          </p:cNvPr>
          <p:cNvSpPr/>
          <p:nvPr/>
        </p:nvSpPr>
        <p:spPr>
          <a:xfrm>
            <a:off x="4479470" y="1509561"/>
            <a:ext cx="3233057" cy="1976582"/>
          </a:xfrm>
          <a:prstGeom prst="rect">
            <a:avLst/>
          </a:prstGeom>
          <a:solidFill>
            <a:srgbClr val="68789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II. Design et Identité Visuelle (Tendances 2026)</a:t>
            </a:r>
            <a:endParaRPr lang="fr-FR" dirty="0"/>
          </a:p>
          <a:p>
            <a:pPr algn="ctr"/>
            <a:r>
              <a:rPr lang="fr-FR" dirty="0"/>
              <a:t>Palette de couleurs, typographies expressives et mise en page en Bento Grid. </a:t>
            </a:r>
          </a:p>
          <a:p>
            <a:pPr algn="ctr"/>
            <a:endParaRPr lang="fr-FR" dirty="0">
              <a:solidFill>
                <a:schemeClr val="bg1"/>
              </a:solidFill>
            </a:endParaRPr>
          </a:p>
        </p:txBody>
      </p:sp>
      <p:sp>
        <p:nvSpPr>
          <p:cNvPr id="9" name="Rectangle 8">
            <a:extLst>
              <a:ext uri="{FF2B5EF4-FFF2-40B4-BE49-F238E27FC236}">
                <a16:creationId xmlns:a16="http://schemas.microsoft.com/office/drawing/2014/main" id="{B295B9CF-AD18-0395-26A8-0B3A50EEFBF0}"/>
              </a:ext>
            </a:extLst>
          </p:cNvPr>
          <p:cNvSpPr/>
          <p:nvPr/>
        </p:nvSpPr>
        <p:spPr>
          <a:xfrm>
            <a:off x="8599713" y="4601858"/>
            <a:ext cx="3233057" cy="1850572"/>
          </a:xfrm>
          <a:prstGeom prst="rect">
            <a:avLst/>
          </a:prstGeom>
          <a:solidFill>
            <a:srgbClr val="68789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VI. Conclusion</a:t>
            </a:r>
          </a:p>
          <a:p>
            <a:pPr algn="ctr"/>
            <a:r>
              <a:rPr lang="fr-FR" dirty="0"/>
              <a:t>Démonstration live et pistes d'amélioration futures. </a:t>
            </a:r>
          </a:p>
          <a:p>
            <a:pPr algn="ctr"/>
            <a:endParaRPr lang="fr-FR" dirty="0">
              <a:solidFill>
                <a:schemeClr val="bg1"/>
              </a:solidFill>
            </a:endParaRPr>
          </a:p>
        </p:txBody>
      </p:sp>
      <p:sp>
        <p:nvSpPr>
          <p:cNvPr id="10" name="Rectangle 9">
            <a:extLst>
              <a:ext uri="{FF2B5EF4-FFF2-40B4-BE49-F238E27FC236}">
                <a16:creationId xmlns:a16="http://schemas.microsoft.com/office/drawing/2014/main" id="{94064085-4E6D-5E06-8675-74FFC18BC7CE}"/>
              </a:ext>
            </a:extLst>
          </p:cNvPr>
          <p:cNvSpPr/>
          <p:nvPr/>
        </p:nvSpPr>
        <p:spPr>
          <a:xfrm>
            <a:off x="8360226" y="1950360"/>
            <a:ext cx="3472544" cy="1976583"/>
          </a:xfrm>
          <a:prstGeom prst="rect">
            <a:avLst/>
          </a:prstGeom>
          <a:solidFill>
            <a:srgbClr val="68789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III. Architecture et Structure</a:t>
            </a:r>
          </a:p>
          <a:p>
            <a:pPr lvl="1" algn="ctr"/>
            <a:r>
              <a:rPr lang="fr-FR" dirty="0"/>
              <a:t>Structure des dossiers (Arborescence) et </a:t>
            </a:r>
          </a:p>
          <a:p>
            <a:pPr lvl="1" algn="ctr"/>
            <a:r>
              <a:rPr lang="fr-FR" dirty="0"/>
              <a:t>organisation des 5 pages HTML obligatoires.</a:t>
            </a:r>
          </a:p>
          <a:p>
            <a:pPr algn="ctr"/>
            <a:endParaRPr lang="fr-FR" dirty="0"/>
          </a:p>
          <a:p>
            <a:pPr algn="ctr"/>
            <a:endParaRPr lang="fr-FR" dirty="0">
              <a:solidFill>
                <a:schemeClr val="bg1"/>
              </a:solidFill>
            </a:endParaRPr>
          </a:p>
        </p:txBody>
      </p:sp>
      <p:sp>
        <p:nvSpPr>
          <p:cNvPr id="11" name="Rectangle 10">
            <a:extLst>
              <a:ext uri="{FF2B5EF4-FFF2-40B4-BE49-F238E27FC236}">
                <a16:creationId xmlns:a16="http://schemas.microsoft.com/office/drawing/2014/main" id="{47750F19-7ADB-43C2-ACF3-901DA514F83D}"/>
              </a:ext>
            </a:extLst>
          </p:cNvPr>
          <p:cNvSpPr/>
          <p:nvPr/>
        </p:nvSpPr>
        <p:spPr>
          <a:xfrm>
            <a:off x="598718" y="3684659"/>
            <a:ext cx="3233057" cy="1850572"/>
          </a:xfrm>
          <a:prstGeom prst="rect">
            <a:avLst/>
          </a:prstGeom>
          <a:solidFill>
            <a:srgbClr val="68789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IV. Expertise Technique</a:t>
            </a:r>
            <a:endParaRPr lang="fr-FR" dirty="0"/>
          </a:p>
          <a:p>
            <a:pPr algn="ctr"/>
            <a:r>
              <a:rPr lang="fr-FR" dirty="0"/>
              <a:t>Structure sémantique HTML5, intégration Bootstrap 5 et interactivité JavaScript vanilla. </a:t>
            </a:r>
          </a:p>
          <a:p>
            <a:pPr algn="ctr"/>
            <a:endParaRPr lang="fr-FR" dirty="0">
              <a:solidFill>
                <a:schemeClr val="bg1"/>
              </a:solidFill>
            </a:endParaRPr>
          </a:p>
        </p:txBody>
      </p:sp>
    </p:spTree>
    <p:extLst>
      <p:ext uri="{BB962C8B-B14F-4D97-AF65-F5344CB8AC3E}">
        <p14:creationId xmlns:p14="http://schemas.microsoft.com/office/powerpoint/2010/main" val="1161214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C7CACE-9665-0572-EDBC-D7A3EBC4F89B}"/>
              </a:ext>
            </a:extLst>
          </p:cNvPr>
          <p:cNvSpPr txBox="1"/>
          <p:nvPr/>
        </p:nvSpPr>
        <p:spPr>
          <a:xfrm>
            <a:off x="835660" y="0"/>
            <a:ext cx="10520680" cy="707886"/>
          </a:xfrm>
          <a:prstGeom prst="rect">
            <a:avLst/>
          </a:prstGeom>
          <a:noFill/>
        </p:spPr>
        <p:txBody>
          <a:bodyPr wrap="square" rtlCol="0">
            <a:spAutoFit/>
          </a:bodyPr>
          <a:lstStyle/>
          <a:p>
            <a:r>
              <a:rPr lang="fr-FR" sz="4000" b="1" dirty="0">
                <a:solidFill>
                  <a:schemeClr val="bg1"/>
                </a:solidFill>
                <a:latin typeface="Times New Roman" panose="02020603050405020304" pitchFamily="18" charset="0"/>
                <a:cs typeface="Times New Roman" panose="02020603050405020304" pitchFamily="18" charset="0"/>
              </a:rPr>
              <a:t>I. </a:t>
            </a:r>
            <a:r>
              <a:rPr lang="fr-FR" sz="4000" b="1" u="sng" dirty="0">
                <a:solidFill>
                  <a:schemeClr val="bg1"/>
                </a:solidFill>
                <a:latin typeface="Times New Roman" panose="02020603050405020304" pitchFamily="18" charset="0"/>
                <a:cs typeface="Times New Roman" panose="02020603050405020304" pitchFamily="18" charset="0"/>
              </a:rPr>
              <a:t>INTRODUCTION ET VISION DU PROJET</a:t>
            </a:r>
          </a:p>
        </p:txBody>
      </p:sp>
      <p:sp>
        <p:nvSpPr>
          <p:cNvPr id="3" name="ZoneTexte 2">
            <a:extLst>
              <a:ext uri="{FF2B5EF4-FFF2-40B4-BE49-F238E27FC236}">
                <a16:creationId xmlns:a16="http://schemas.microsoft.com/office/drawing/2014/main" id="{90368ABC-E8C0-DA42-6253-CCA0730F1ECC}"/>
              </a:ext>
            </a:extLst>
          </p:cNvPr>
          <p:cNvSpPr txBox="1"/>
          <p:nvPr/>
        </p:nvSpPr>
        <p:spPr>
          <a:xfrm>
            <a:off x="472440" y="1239520"/>
            <a:ext cx="11247120" cy="5078313"/>
          </a:xfrm>
          <a:prstGeom prst="rect">
            <a:avLst/>
          </a:prstGeom>
          <a:noFill/>
        </p:spPr>
        <p:txBody>
          <a:bodyPr wrap="square" rtlCol="0">
            <a:spAutoFit/>
          </a:bodyPr>
          <a:lstStyle/>
          <a:p>
            <a:r>
              <a:rPr lang="fr-FR" sz="3600" b="1" dirty="0">
                <a:solidFill>
                  <a:schemeClr val="bg1"/>
                </a:solidFill>
                <a:latin typeface="Times New Roman" panose="02020603050405020304" pitchFamily="18" charset="0"/>
                <a:cs typeface="Times New Roman" panose="02020603050405020304" pitchFamily="18" charset="0"/>
              </a:rPr>
              <a:t>AfriTalent</a:t>
            </a:r>
            <a:r>
              <a:rPr lang="fr-FR" sz="3600" dirty="0">
                <a:solidFill>
                  <a:schemeClr val="bg1"/>
                </a:solidFill>
                <a:latin typeface="Times New Roman" panose="02020603050405020304" pitchFamily="18" charset="0"/>
                <a:cs typeface="Times New Roman" panose="02020603050405020304" pitchFamily="18" charset="0"/>
              </a:rPr>
              <a:t> est un site vitrine moderne conçu pour une plateforme fictive de mise en relation entre les talents technologiques africains (développeurs, designers, experts Data/IA) et les entreprises du monde entier. Le projet a été réalisé dans le cadre du Semestre 2 pour démontrer la maîtrise des technologies web fondamentales, avec une interface responsive adoptant les tendances de 2026 comme le design </a:t>
            </a:r>
            <a:r>
              <a:rPr lang="fr-FR" sz="3600" b="1" dirty="0">
                <a:solidFill>
                  <a:schemeClr val="bg1"/>
                </a:solidFill>
                <a:latin typeface="Times New Roman" panose="02020603050405020304" pitchFamily="18" charset="0"/>
                <a:cs typeface="Times New Roman" panose="02020603050405020304" pitchFamily="18" charset="0"/>
              </a:rPr>
              <a:t>Bento Grid</a:t>
            </a:r>
            <a:r>
              <a:rPr lang="fr-FR" sz="3600" dirty="0">
                <a:solidFill>
                  <a:schemeClr val="bg1"/>
                </a:solidFill>
                <a:latin typeface="Times New Roman" panose="02020603050405020304" pitchFamily="18" charset="0"/>
                <a:cs typeface="Times New Roman" panose="02020603050405020304" pitchFamily="18" charset="0"/>
              </a:rPr>
              <a:t>.</a:t>
            </a:r>
          </a:p>
          <a:p>
            <a:endParaRPr lang="fr-FR"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8825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B06A413-71CC-17C1-6104-0BB708B43662}"/>
              </a:ext>
            </a:extLst>
          </p:cNvPr>
          <p:cNvSpPr txBox="1"/>
          <p:nvPr/>
        </p:nvSpPr>
        <p:spPr>
          <a:xfrm>
            <a:off x="1584960" y="0"/>
            <a:ext cx="9022080" cy="707886"/>
          </a:xfrm>
          <a:prstGeom prst="rect">
            <a:avLst/>
          </a:prstGeom>
          <a:noFill/>
        </p:spPr>
        <p:txBody>
          <a:bodyPr wrap="square" rtlCol="0">
            <a:spAutoFit/>
          </a:bodyPr>
          <a:lstStyle/>
          <a:p>
            <a:r>
              <a:rPr lang="fr-FR" sz="4000" b="1" dirty="0">
                <a:solidFill>
                  <a:schemeClr val="bg1"/>
                </a:solidFill>
                <a:latin typeface="Times New Roman" panose="02020603050405020304" pitchFamily="18" charset="0"/>
                <a:cs typeface="Times New Roman" panose="02020603050405020304" pitchFamily="18" charset="0"/>
              </a:rPr>
              <a:t>II. </a:t>
            </a:r>
            <a:r>
              <a:rPr lang="fr-FR" sz="4000" b="1" u="sng" dirty="0">
                <a:solidFill>
                  <a:schemeClr val="bg1"/>
                </a:solidFill>
                <a:latin typeface="Times New Roman" panose="02020603050405020304" pitchFamily="18" charset="0"/>
                <a:cs typeface="Times New Roman" panose="02020603050405020304" pitchFamily="18" charset="0"/>
              </a:rPr>
              <a:t>DESIGN ET IDENTITE VISUELLE</a:t>
            </a:r>
            <a:endParaRPr lang="fr-FR" dirty="0"/>
          </a:p>
        </p:txBody>
      </p:sp>
      <p:sp>
        <p:nvSpPr>
          <p:cNvPr id="3" name="ZoneTexte 2">
            <a:extLst>
              <a:ext uri="{FF2B5EF4-FFF2-40B4-BE49-F238E27FC236}">
                <a16:creationId xmlns:a16="http://schemas.microsoft.com/office/drawing/2014/main" id="{8DD4E65F-288C-5163-CF4D-74CB9139EEDF}"/>
              </a:ext>
            </a:extLst>
          </p:cNvPr>
          <p:cNvSpPr txBox="1"/>
          <p:nvPr/>
        </p:nvSpPr>
        <p:spPr>
          <a:xfrm>
            <a:off x="3665220" y="707886"/>
            <a:ext cx="4861560" cy="707886"/>
          </a:xfrm>
          <a:prstGeom prst="rect">
            <a:avLst/>
          </a:prstGeom>
          <a:noFill/>
        </p:spPr>
        <p:txBody>
          <a:bodyPr wrap="square" rtlCol="0">
            <a:spAutoFit/>
          </a:bodyPr>
          <a:lstStyle/>
          <a:p>
            <a:r>
              <a:rPr lang="fr-FR" sz="4000" b="1" dirty="0">
                <a:solidFill>
                  <a:schemeClr val="bg1"/>
                </a:solidFill>
                <a:latin typeface="Times New Roman" panose="02020603050405020304" pitchFamily="18" charset="0"/>
                <a:cs typeface="Times New Roman" panose="02020603050405020304" pitchFamily="18" charset="0"/>
              </a:rPr>
              <a:t>A. </a:t>
            </a:r>
            <a:r>
              <a:rPr lang="fr-FR" sz="4000" b="1" u="sng" dirty="0">
                <a:solidFill>
                  <a:schemeClr val="bg1"/>
                </a:solidFill>
                <a:latin typeface="Times New Roman" panose="02020603050405020304" pitchFamily="18" charset="0"/>
                <a:cs typeface="Times New Roman" panose="02020603050405020304" pitchFamily="18" charset="0"/>
              </a:rPr>
              <a:t>Choix Graphiques</a:t>
            </a:r>
          </a:p>
        </p:txBody>
      </p:sp>
      <p:sp>
        <p:nvSpPr>
          <p:cNvPr id="5" name="ZoneTexte 4">
            <a:extLst>
              <a:ext uri="{FF2B5EF4-FFF2-40B4-BE49-F238E27FC236}">
                <a16:creationId xmlns:a16="http://schemas.microsoft.com/office/drawing/2014/main" id="{EC63E1FF-2E63-68B8-463D-AB874C1F5EEB}"/>
              </a:ext>
            </a:extLst>
          </p:cNvPr>
          <p:cNvSpPr txBox="1"/>
          <p:nvPr/>
        </p:nvSpPr>
        <p:spPr>
          <a:xfrm>
            <a:off x="558800" y="1497702"/>
            <a:ext cx="11612880" cy="3108543"/>
          </a:xfrm>
          <a:prstGeom prst="rect">
            <a:avLst/>
          </a:prstGeom>
          <a:noFill/>
        </p:spPr>
        <p:txBody>
          <a:bodyPr wrap="square">
            <a:spAutoFit/>
          </a:bodyPr>
          <a:lstStyle/>
          <a:p>
            <a:pPr algn="ctr"/>
            <a:r>
              <a:rPr lang="fr-FR" sz="2800" u="sng" dirty="0">
                <a:solidFill>
                  <a:schemeClr val="bg1"/>
                </a:solidFill>
                <a:latin typeface="Times New Roman" panose="02020603050405020304" pitchFamily="18" charset="0"/>
                <a:cs typeface="Times New Roman" panose="02020603050405020304" pitchFamily="18" charset="0"/>
              </a:rPr>
              <a:t>Palette de couleurs </a:t>
            </a:r>
          </a:p>
          <a:p>
            <a:r>
              <a:rPr lang="fr-FR" sz="2400" b="1" dirty="0">
                <a:solidFill>
                  <a:schemeClr val="bg1"/>
                </a:solidFill>
                <a:latin typeface="Times New Roman" panose="02020603050405020304" pitchFamily="18" charset="0"/>
                <a:cs typeface="Times New Roman" panose="02020603050405020304" pitchFamily="18" charset="0"/>
              </a:rPr>
              <a:t>Bleu Nuit (Fond de section) :</a:t>
            </a:r>
            <a:r>
              <a:rPr lang="fr-FR" sz="2400" dirty="0">
                <a:solidFill>
                  <a:schemeClr val="bg1"/>
                </a:solidFill>
                <a:latin typeface="Times New Roman" panose="02020603050405020304" pitchFamily="18" charset="0"/>
                <a:cs typeface="Times New Roman" panose="02020603050405020304" pitchFamily="18" charset="0"/>
              </a:rPr>
              <a:t> #031525 ou #041c32</a:t>
            </a:r>
          </a:p>
          <a:p>
            <a:r>
              <a:rPr lang="fr-FR" sz="2400" b="1" dirty="0">
                <a:solidFill>
                  <a:schemeClr val="bg1"/>
                </a:solidFill>
                <a:latin typeface="Times New Roman" panose="02020603050405020304" pitchFamily="18" charset="0"/>
                <a:cs typeface="Times New Roman" panose="02020603050405020304" pitchFamily="18" charset="0"/>
              </a:rPr>
              <a:t>Blanc (Texte et fond) :</a:t>
            </a:r>
            <a:r>
              <a:rPr lang="fr-FR" sz="2400" dirty="0">
                <a:solidFill>
                  <a:schemeClr val="bg1"/>
                </a:solidFill>
                <a:latin typeface="Times New Roman" panose="02020603050405020304" pitchFamily="18" charset="0"/>
                <a:cs typeface="Times New Roman" panose="02020603050405020304" pitchFamily="18" charset="0"/>
              </a:rPr>
              <a:t> #FFFFFF.</a:t>
            </a:r>
          </a:p>
          <a:p>
            <a:r>
              <a:rPr lang="fr-FR" sz="2400" b="1" dirty="0">
                <a:solidFill>
                  <a:schemeClr val="bg1"/>
                </a:solidFill>
                <a:latin typeface="Times New Roman" panose="02020603050405020304" pitchFamily="18" charset="0"/>
                <a:cs typeface="Times New Roman" panose="02020603050405020304" pitchFamily="18" charset="0"/>
              </a:rPr>
              <a:t>Noir (Barre de navigation) :</a:t>
            </a:r>
            <a:r>
              <a:rPr lang="fr-FR" sz="2400" dirty="0">
                <a:solidFill>
                  <a:schemeClr val="bg1"/>
                </a:solidFill>
                <a:latin typeface="Times New Roman" panose="02020603050405020304" pitchFamily="18" charset="0"/>
                <a:cs typeface="Times New Roman" panose="02020603050405020304" pitchFamily="18" charset="0"/>
              </a:rPr>
              <a:t> #000000.</a:t>
            </a:r>
          </a:p>
          <a:p>
            <a:r>
              <a:rPr lang="fr-FR" sz="2400" b="1" dirty="0">
                <a:solidFill>
                  <a:schemeClr val="bg1"/>
                </a:solidFill>
                <a:latin typeface="Times New Roman" panose="02020603050405020304" pitchFamily="18" charset="0"/>
                <a:cs typeface="Times New Roman" panose="02020603050405020304" pitchFamily="18" charset="0"/>
              </a:rPr>
              <a:t>Gris (Boutons secondaires) :</a:t>
            </a:r>
            <a:r>
              <a:rPr lang="fr-FR" sz="2400" dirty="0">
                <a:solidFill>
                  <a:schemeClr val="bg1"/>
                </a:solidFill>
                <a:latin typeface="Times New Roman" panose="02020603050405020304" pitchFamily="18" charset="0"/>
                <a:cs typeface="Times New Roman" panose="02020603050405020304" pitchFamily="18" charset="0"/>
              </a:rPr>
              <a:t> #424242 ou #333333 </a:t>
            </a:r>
          </a:p>
          <a:p>
            <a:r>
              <a:rPr lang="fr-FR" sz="2400" b="1" dirty="0">
                <a:solidFill>
                  <a:schemeClr val="bg1"/>
                </a:solidFill>
                <a:latin typeface="Times New Roman" panose="02020603050405020304" pitchFamily="18" charset="0"/>
                <a:cs typeface="Times New Roman" panose="02020603050405020304" pitchFamily="18" charset="0"/>
              </a:rPr>
              <a:t>Orange :</a:t>
            </a:r>
            <a:r>
              <a:rPr lang="fr-FR" sz="2400" dirty="0">
                <a:solidFill>
                  <a:schemeClr val="bg1"/>
                </a:solidFill>
                <a:latin typeface="Times New Roman" panose="02020603050405020304" pitchFamily="18" charset="0"/>
                <a:cs typeface="Times New Roman" panose="02020603050405020304" pitchFamily="18" charset="0"/>
              </a:rPr>
              <a:t> #FF9800.</a:t>
            </a:r>
          </a:p>
          <a:p>
            <a:r>
              <a:rPr lang="fr-FR" sz="2400" dirty="0">
                <a:solidFill>
                  <a:schemeClr val="bg1"/>
                </a:solidFill>
              </a:rPr>
              <a:t>Le choix de ces couleurs pour le projet </a:t>
            </a:r>
            <a:r>
              <a:rPr lang="fr-FR" sz="2400" b="1" dirty="0">
                <a:solidFill>
                  <a:schemeClr val="bg1"/>
                </a:solidFill>
              </a:rPr>
              <a:t>AfriTalent</a:t>
            </a:r>
            <a:r>
              <a:rPr lang="fr-FR" sz="2400" dirty="0">
                <a:solidFill>
                  <a:schemeClr val="bg1"/>
                </a:solidFill>
              </a:rPr>
              <a:t> repose sur une stratégie visuelle alliant professionnalisme, identité culturelle et efficacité ergonomique</a:t>
            </a:r>
            <a:endParaRPr lang="fr-FR" sz="2400" dirty="0">
              <a:solidFill>
                <a:schemeClr val="bg1"/>
              </a:solidFill>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B0D61E6A-A8F7-59A6-2878-9C365AAF8CA7}"/>
              </a:ext>
            </a:extLst>
          </p:cNvPr>
          <p:cNvSpPr txBox="1"/>
          <p:nvPr/>
        </p:nvSpPr>
        <p:spPr>
          <a:xfrm>
            <a:off x="558800" y="4606245"/>
            <a:ext cx="10728960" cy="2246769"/>
          </a:xfrm>
          <a:prstGeom prst="rect">
            <a:avLst/>
          </a:prstGeom>
          <a:noFill/>
        </p:spPr>
        <p:txBody>
          <a:bodyPr wrap="square">
            <a:spAutoFit/>
          </a:bodyPr>
          <a:lstStyle/>
          <a:p>
            <a:pPr algn="ctr"/>
            <a:r>
              <a:rPr lang="fr-FR" sz="2800" u="sng"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Typographies Google Fonts </a:t>
            </a:r>
          </a:p>
          <a:p>
            <a:r>
              <a:rPr lang="fr-FR" sz="3200" b="1" dirty="0">
                <a:solidFill>
                  <a:schemeClr val="bg1"/>
                </a:solidFill>
                <a:latin typeface="Times New Roman" panose="02020603050405020304" pitchFamily="18" charset="0"/>
                <a:cs typeface="Times New Roman" panose="02020603050405020304" pitchFamily="18" charset="0"/>
              </a:rPr>
              <a:t>Titres: </a:t>
            </a:r>
            <a:r>
              <a:rPr lang="fr-FR" sz="2400" dirty="0">
                <a:solidFill>
                  <a:schemeClr val="bg1"/>
                </a:solidFill>
              </a:rPr>
              <a:t>La police </a:t>
            </a:r>
            <a:r>
              <a:rPr lang="fr-FR" sz="2400" b="1" dirty="0">
                <a:solidFill>
                  <a:schemeClr val="bg1"/>
                </a:solidFill>
              </a:rPr>
              <a:t>Poppins</a:t>
            </a:r>
            <a:r>
              <a:rPr lang="fr-FR" sz="2400" dirty="0">
                <a:solidFill>
                  <a:schemeClr val="bg1"/>
                </a:solidFill>
              </a:rPr>
              <a:t> a été choisie pour sa géométrie moderne qui renforce l'image technologique et professionnelle de la plateforme. </a:t>
            </a:r>
          </a:p>
          <a:p>
            <a:r>
              <a:rPr lang="fr-FR" sz="3200" b="1" dirty="0">
                <a:solidFill>
                  <a:schemeClr val="bg1"/>
                </a:solidFill>
                <a:latin typeface="Times New Roman" panose="02020603050405020304" pitchFamily="18" charset="0"/>
                <a:cs typeface="Times New Roman" panose="02020603050405020304" pitchFamily="18" charset="0"/>
              </a:rPr>
              <a:t>Corps: </a:t>
            </a:r>
            <a:r>
              <a:rPr lang="fr-FR" sz="2400" dirty="0">
                <a:solidFill>
                  <a:schemeClr val="bg1"/>
                </a:solidFill>
                <a:latin typeface="Times New Roman" panose="02020603050405020304" pitchFamily="18" charset="0"/>
                <a:cs typeface="Times New Roman" panose="02020603050405020304" pitchFamily="18" charset="0"/>
              </a:rPr>
              <a:t>La police </a:t>
            </a:r>
            <a:r>
              <a:rPr lang="fr-FR" sz="2400" b="1" dirty="0">
                <a:solidFill>
                  <a:schemeClr val="bg1"/>
                </a:solidFill>
                <a:latin typeface="Times New Roman" panose="02020603050405020304" pitchFamily="18" charset="0"/>
                <a:cs typeface="Times New Roman" panose="02020603050405020304" pitchFamily="18" charset="0"/>
              </a:rPr>
              <a:t>Montserrat </a:t>
            </a:r>
            <a:r>
              <a:rPr lang="fr-FR" sz="2400" dirty="0">
                <a:solidFill>
                  <a:schemeClr val="bg1"/>
                </a:solidFill>
                <a:latin typeface="Times New Roman" panose="02020603050405020304" pitchFamily="18" charset="0"/>
                <a:cs typeface="Times New Roman" panose="02020603050405020304" pitchFamily="18" charset="0"/>
              </a:rPr>
              <a:t>a été choisie pour  garantir une lisibilité parfaite des contenus denses grâce à son design géométrique épuré et moderne.</a:t>
            </a:r>
            <a:endParaRPr lang="fr-FR" sz="2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912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BDF4B01-8560-56CF-7DA6-47348D7165A2}"/>
              </a:ext>
            </a:extLst>
          </p:cNvPr>
          <p:cNvSpPr txBox="1"/>
          <p:nvPr/>
        </p:nvSpPr>
        <p:spPr>
          <a:xfrm>
            <a:off x="3266440" y="0"/>
            <a:ext cx="565912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cs typeface="Times New Roman" panose="02020603050405020304" pitchFamily="18" charset="0"/>
              </a:rPr>
              <a:t>B.</a:t>
            </a:r>
            <a:r>
              <a:rPr lang="fr-FR" b="1" dirty="0"/>
              <a:t> </a:t>
            </a:r>
            <a:r>
              <a:rPr lang="fr-FR" sz="4000" b="1" u="sng" dirty="0">
                <a:solidFill>
                  <a:schemeClr val="bg1"/>
                </a:solidFill>
                <a:latin typeface="Times New Roman" panose="02020603050405020304" pitchFamily="18" charset="0"/>
                <a:cs typeface="Times New Roman" panose="02020603050405020304" pitchFamily="18" charset="0"/>
              </a:rPr>
              <a:t>Inspirations et Layout</a:t>
            </a:r>
          </a:p>
        </p:txBody>
      </p:sp>
      <p:sp>
        <p:nvSpPr>
          <p:cNvPr id="5" name="ZoneTexte 4">
            <a:extLst>
              <a:ext uri="{FF2B5EF4-FFF2-40B4-BE49-F238E27FC236}">
                <a16:creationId xmlns:a16="http://schemas.microsoft.com/office/drawing/2014/main" id="{535C0A47-B2BF-48AD-6938-D98BDEE9C1E5}"/>
              </a:ext>
            </a:extLst>
          </p:cNvPr>
          <p:cNvSpPr txBox="1"/>
          <p:nvPr/>
        </p:nvSpPr>
        <p:spPr>
          <a:xfrm>
            <a:off x="274320" y="902979"/>
            <a:ext cx="11551920" cy="5614614"/>
          </a:xfrm>
          <a:prstGeom prst="rect">
            <a:avLst/>
          </a:prstGeom>
          <a:noFill/>
        </p:spPr>
        <p:txBody>
          <a:bodyPr wrap="square">
            <a:spAutoFit/>
          </a:bodyPr>
          <a:lstStyle/>
          <a:p>
            <a:pPr lvl="1" algn="ctr">
              <a:lnSpc>
                <a:spcPct val="115000"/>
              </a:lnSpc>
              <a:spcAft>
                <a:spcPts val="800"/>
              </a:spcAft>
              <a:buSzPts val="1000"/>
              <a:tabLst>
                <a:tab pos="914400" algn="l"/>
              </a:tabLst>
            </a:pPr>
            <a:r>
              <a:rPr lang="fr-FR" sz="2800"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Justification du style </a:t>
            </a:r>
            <a:r>
              <a:rPr lang="fr-FR" sz="28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Bento Grid</a:t>
            </a:r>
            <a:r>
              <a:rPr lang="fr-FR" sz="2800"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pour la section </a:t>
            </a:r>
            <a:r>
              <a:rPr lang="fr-FR" sz="2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r>
              <a:rPr lang="fr-FR" sz="2800"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r>
              <a:rPr lang="fr-FR" sz="2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Comment ça marche</a:t>
            </a:r>
            <a:r>
              <a:rPr lang="en-US" sz="2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p>
          <a:p>
            <a:pPr lvl="1">
              <a:lnSpc>
                <a:spcPct val="115000"/>
              </a:lnSpc>
              <a:spcAft>
                <a:spcPts val="800"/>
              </a:spcAft>
              <a:buSzPts val="1000"/>
              <a:tabLst>
                <a:tab pos="914400" algn="l"/>
              </a:tabLst>
            </a:pPr>
            <a:r>
              <a:rPr lang="fr-FR" sz="2400" dirty="0">
                <a:solidFill>
                  <a:schemeClr val="bg1"/>
                </a:solidFill>
              </a:rPr>
              <a:t>La </a:t>
            </a:r>
            <a:r>
              <a:rPr lang="fr-FR" sz="2400" b="1" dirty="0">
                <a:solidFill>
                  <a:schemeClr val="bg1"/>
                </a:solidFill>
              </a:rPr>
              <a:t>Bento Grid</a:t>
            </a:r>
            <a:r>
              <a:rPr lang="fr-FR" sz="2400" dirty="0">
                <a:solidFill>
                  <a:schemeClr val="bg1"/>
                </a:solidFill>
              </a:rPr>
              <a:t> organise les quatre étapes dans des compartiments distincts, offrant une hiérarchie visuelle claire qui rend le processus complexe de mise en relation simple et digeste. Ce choix structurel renforce l'image technologique et innovante d'AfriTalent tout en assurant une parfaite adaptabilité sur tous les écrans du mobile à l'ordinateur. </a:t>
            </a:r>
          </a:p>
          <a:p>
            <a:pPr lvl="1" algn="ctr">
              <a:lnSpc>
                <a:spcPct val="115000"/>
              </a:lnSpc>
              <a:spcAft>
                <a:spcPts val="800"/>
              </a:spcAft>
              <a:buSzPts val="1000"/>
              <a:tabLst>
                <a:tab pos="914400" algn="l"/>
              </a:tabLst>
            </a:pPr>
            <a:r>
              <a:rPr lang="fr-FR" sz="2800" u="sng" dirty="0">
                <a:solidFill>
                  <a:schemeClr val="bg1"/>
                </a:solidFill>
                <a:latin typeface="Times New Roman" panose="02020603050405020304" pitchFamily="18" charset="0"/>
                <a:cs typeface="Times New Roman" panose="02020603050405020304" pitchFamily="18" charset="0"/>
              </a:rPr>
              <a:t>Recherche d'un design épuré et d'une typographie expressive.</a:t>
            </a:r>
            <a:endParaRPr lang="fr-FR" sz="2800"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lvl="1">
              <a:lnSpc>
                <a:spcPct val="115000"/>
              </a:lnSpc>
              <a:spcAft>
                <a:spcPts val="800"/>
              </a:spcAft>
              <a:buSzPts val="1000"/>
              <a:tabLst>
                <a:tab pos="914400" algn="l"/>
              </a:tabLst>
            </a:pPr>
            <a:r>
              <a:rPr lang="fr-FR" sz="2400" dirty="0">
                <a:solidFill>
                  <a:schemeClr val="bg1"/>
                </a:solidFill>
              </a:rPr>
              <a:t>L'alliance de </a:t>
            </a:r>
            <a:r>
              <a:rPr lang="fr-FR" sz="2400" b="1" dirty="0">
                <a:solidFill>
                  <a:schemeClr val="bg1"/>
                </a:solidFill>
              </a:rPr>
              <a:t>Poppins</a:t>
            </a:r>
            <a:r>
              <a:rPr lang="fr-FR" sz="2400" dirty="0">
                <a:solidFill>
                  <a:schemeClr val="bg1"/>
                </a:solidFill>
              </a:rPr>
              <a:t> et </a:t>
            </a:r>
            <a:r>
              <a:rPr lang="fr-FR" sz="2400" b="1" dirty="0">
                <a:solidFill>
                  <a:schemeClr val="bg1"/>
                </a:solidFill>
              </a:rPr>
              <a:t>Montserrat</a:t>
            </a:r>
            <a:r>
              <a:rPr lang="fr-FR" sz="2400" dirty="0">
                <a:solidFill>
                  <a:schemeClr val="bg1"/>
                </a:solidFill>
              </a:rPr>
              <a:t> crée un design épuré en éliminant les fioritures visuelles au profit de formes géométriques modernes et minimalistes. Cette combinaison typographique s'avère expressive en donnant du caractère aux titres tout en garantissant une élégance professionnelle pour le contenu textuel de la plateforme.</a:t>
            </a:r>
            <a:endParaRPr lang="fr-FR" sz="2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9116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56F9E55-2966-1160-FB97-2F5FD874169A}"/>
              </a:ext>
            </a:extLst>
          </p:cNvPr>
          <p:cNvSpPr txBox="1"/>
          <p:nvPr/>
        </p:nvSpPr>
        <p:spPr>
          <a:xfrm>
            <a:off x="1412240" y="0"/>
            <a:ext cx="9367520" cy="707886"/>
          </a:xfrm>
          <a:prstGeom prst="rect">
            <a:avLst/>
          </a:prstGeom>
          <a:noFill/>
        </p:spPr>
        <p:txBody>
          <a:bodyPr wrap="square">
            <a:spAutoFit/>
          </a:bodyPr>
          <a:lstStyle/>
          <a:p>
            <a:pPr algn="ctr"/>
            <a:r>
              <a:rPr lang="fr-FR" sz="4000" b="1" dirty="0">
                <a:solidFill>
                  <a:schemeClr val="bg1"/>
                </a:solidFill>
                <a:latin typeface="Times New Roman" panose="02020603050405020304" pitchFamily="18" charset="0"/>
                <a:cs typeface="Times New Roman" panose="02020603050405020304" pitchFamily="18" charset="0"/>
              </a:rPr>
              <a:t>III. </a:t>
            </a:r>
            <a:r>
              <a:rPr lang="fr-FR" sz="4000" b="1" u="sng" dirty="0">
                <a:solidFill>
                  <a:schemeClr val="bg1"/>
                </a:solidFill>
                <a:latin typeface="Times New Roman" panose="02020603050405020304" pitchFamily="18" charset="0"/>
                <a:cs typeface="Times New Roman" panose="02020603050405020304" pitchFamily="18" charset="0"/>
              </a:rPr>
              <a:t>ARCHITECTURE ET STRUCTURE</a:t>
            </a:r>
          </a:p>
        </p:txBody>
      </p:sp>
      <p:sp>
        <p:nvSpPr>
          <p:cNvPr id="5" name="ZoneTexte 4">
            <a:extLst>
              <a:ext uri="{FF2B5EF4-FFF2-40B4-BE49-F238E27FC236}">
                <a16:creationId xmlns:a16="http://schemas.microsoft.com/office/drawing/2014/main" id="{6D0F1E09-68A5-8E78-F227-9CE603C44FDF}"/>
              </a:ext>
            </a:extLst>
          </p:cNvPr>
          <p:cNvSpPr txBox="1"/>
          <p:nvPr/>
        </p:nvSpPr>
        <p:spPr>
          <a:xfrm>
            <a:off x="3110230" y="859054"/>
            <a:ext cx="5971540" cy="743473"/>
          </a:xfrm>
          <a:prstGeom prst="rect">
            <a:avLst/>
          </a:prstGeom>
          <a:noFill/>
        </p:spPr>
        <p:txBody>
          <a:bodyPr wrap="square">
            <a:spAutoFit/>
          </a:bodyPr>
          <a:lstStyle/>
          <a:p>
            <a:pPr lvl="0">
              <a:lnSpc>
                <a:spcPct val="115000"/>
              </a:lnSpc>
              <a:spcAft>
                <a:spcPts val="800"/>
              </a:spcAft>
              <a:buSzPts val="1000"/>
              <a:tabLst>
                <a:tab pos="457200" algn="l"/>
              </a:tabLst>
            </a:pPr>
            <a:r>
              <a:rPr lang="fr-FR" sz="40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 </a:t>
            </a:r>
            <a:r>
              <a:rPr lang="fr-FR" sz="40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Arborescence du Projet</a:t>
            </a:r>
            <a:endParaRPr lang="fr-FR" sz="4000"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6CBD2705-25FA-E254-C7B7-667AB506896D}"/>
              </a:ext>
            </a:extLst>
          </p:cNvPr>
          <p:cNvSpPr txBox="1"/>
          <p:nvPr/>
        </p:nvSpPr>
        <p:spPr>
          <a:xfrm>
            <a:off x="3281680" y="1751629"/>
            <a:ext cx="6096000" cy="5016758"/>
          </a:xfrm>
          <a:prstGeom prst="rect">
            <a:avLst/>
          </a:prstGeom>
          <a:noFill/>
        </p:spPr>
        <p:txBody>
          <a:bodyPr wrap="square">
            <a:spAutoFit/>
          </a:bodyPr>
          <a:lstStyle/>
          <a:p>
            <a:r>
              <a:rPr lang="fr-FR" sz="2000" dirty="0">
                <a:solidFill>
                  <a:schemeClr val="bg1"/>
                </a:solidFill>
                <a:latin typeface="Times New Roman" panose="02020603050405020304" pitchFamily="18" charset="0"/>
                <a:cs typeface="Times New Roman" panose="02020603050405020304" pitchFamily="18" charset="0"/>
              </a:rPr>
              <a:t>Aphie-Noakh-AfriTalent/ </a:t>
            </a:r>
          </a:p>
          <a:p>
            <a:r>
              <a:rPr lang="fr-FR" sz="2000" dirty="0">
                <a:solidFill>
                  <a:schemeClr val="bg1"/>
                </a:solidFill>
                <a:latin typeface="Times New Roman" panose="02020603050405020304" pitchFamily="18" charset="0"/>
                <a:cs typeface="Times New Roman" panose="02020603050405020304" pitchFamily="18" charset="0"/>
              </a:rPr>
              <a:t>├── index.html </a:t>
            </a:r>
          </a:p>
          <a:p>
            <a:r>
              <a:rPr lang="fr-FR" sz="2000" dirty="0">
                <a:solidFill>
                  <a:schemeClr val="bg1"/>
                </a:solidFill>
                <a:latin typeface="Times New Roman" panose="02020603050405020304" pitchFamily="18" charset="0"/>
                <a:cs typeface="Times New Roman" panose="02020603050405020304" pitchFamily="18" charset="0"/>
              </a:rPr>
              <a:t>├── freelances.html</a:t>
            </a:r>
          </a:p>
          <a:p>
            <a:r>
              <a:rPr lang="fr-FR" sz="2000" dirty="0">
                <a:solidFill>
                  <a:schemeClr val="bg1"/>
                </a:solidFill>
                <a:latin typeface="Times New Roman" panose="02020603050405020304" pitchFamily="18" charset="0"/>
                <a:cs typeface="Times New Roman" panose="02020603050405020304" pitchFamily="18" charset="0"/>
              </a:rPr>
              <a:t>├── tarifs.html </a:t>
            </a:r>
          </a:p>
          <a:p>
            <a:r>
              <a:rPr lang="fr-FR" sz="2000" dirty="0">
                <a:solidFill>
                  <a:schemeClr val="bg1"/>
                </a:solidFill>
                <a:latin typeface="Times New Roman" panose="02020603050405020304" pitchFamily="18" charset="0"/>
                <a:cs typeface="Times New Roman" panose="02020603050405020304" pitchFamily="18" charset="0"/>
              </a:rPr>
              <a:t>├── about.html </a:t>
            </a:r>
          </a:p>
          <a:p>
            <a:r>
              <a:rPr lang="fr-FR" sz="2000" dirty="0">
                <a:solidFill>
                  <a:schemeClr val="bg1"/>
                </a:solidFill>
                <a:latin typeface="Times New Roman" panose="02020603050405020304" pitchFamily="18" charset="0"/>
                <a:cs typeface="Times New Roman" panose="02020603050405020304" pitchFamily="18" charset="0"/>
              </a:rPr>
              <a:t>├── contact.html</a:t>
            </a:r>
          </a:p>
          <a:p>
            <a:r>
              <a:rPr lang="fr-FR" sz="2000" dirty="0">
                <a:solidFill>
                  <a:schemeClr val="bg1"/>
                </a:solidFill>
                <a:latin typeface="Times New Roman" panose="02020603050405020304" pitchFamily="18" charset="0"/>
                <a:cs typeface="Times New Roman" panose="02020603050405020304" pitchFamily="18" charset="0"/>
              </a:rPr>
              <a:t>├── css/ </a:t>
            </a:r>
          </a:p>
          <a:p>
            <a:r>
              <a:rPr lang="fr-FR" sz="2000" dirty="0">
                <a:solidFill>
                  <a:schemeClr val="bg1"/>
                </a:solidFill>
                <a:latin typeface="Times New Roman" panose="02020603050405020304" pitchFamily="18" charset="0"/>
                <a:cs typeface="Times New Roman" panose="02020603050405020304" pitchFamily="18" charset="0"/>
              </a:rPr>
              <a:t>    └── style.css </a:t>
            </a:r>
          </a:p>
          <a:p>
            <a:r>
              <a:rPr lang="fr-FR" sz="2000" dirty="0">
                <a:solidFill>
                  <a:schemeClr val="bg1"/>
                </a:solidFill>
                <a:latin typeface="Times New Roman" panose="02020603050405020304" pitchFamily="18" charset="0"/>
                <a:cs typeface="Times New Roman" panose="02020603050405020304" pitchFamily="18" charset="0"/>
              </a:rPr>
              <a:t>├── js/ </a:t>
            </a:r>
          </a:p>
          <a:p>
            <a:r>
              <a:rPr lang="fr-FR" sz="2000" dirty="0">
                <a:solidFill>
                  <a:schemeClr val="bg1"/>
                </a:solidFill>
                <a:latin typeface="Times New Roman" panose="02020603050405020304" pitchFamily="18" charset="0"/>
                <a:cs typeface="Times New Roman" panose="02020603050405020304" pitchFamily="18" charset="0"/>
              </a:rPr>
              <a:t>     └── main.js </a:t>
            </a:r>
          </a:p>
          <a:p>
            <a:r>
              <a:rPr lang="fr-FR" sz="2000" dirty="0">
                <a:solidFill>
                  <a:schemeClr val="bg1"/>
                </a:solidFill>
                <a:latin typeface="Times New Roman" panose="02020603050405020304" pitchFamily="18" charset="0"/>
                <a:cs typeface="Times New Roman" panose="02020603050405020304" pitchFamily="18" charset="0"/>
              </a:rPr>
              <a:t>├── images/  </a:t>
            </a:r>
          </a:p>
          <a:p>
            <a:r>
              <a:rPr lang="fr-FR" sz="2000" dirty="0">
                <a:solidFill>
                  <a:schemeClr val="bg1"/>
                </a:solidFill>
                <a:latin typeface="Times New Roman" panose="02020603050405020304" pitchFamily="18" charset="0"/>
                <a:cs typeface="Times New Roman" panose="02020603050405020304" pitchFamily="18" charset="0"/>
              </a:rPr>
              <a:t>     └── (vos images, logos, avatars) </a:t>
            </a:r>
          </a:p>
          <a:p>
            <a:r>
              <a:rPr lang="fr-FR" sz="2000" dirty="0">
                <a:solidFill>
                  <a:schemeClr val="bg1"/>
                </a:solidFill>
                <a:latin typeface="Times New Roman" panose="02020603050405020304" pitchFamily="18" charset="0"/>
                <a:cs typeface="Times New Roman" panose="02020603050405020304" pitchFamily="18" charset="0"/>
              </a:rPr>
              <a:t>├── docs/  </a:t>
            </a:r>
          </a:p>
          <a:p>
            <a:r>
              <a:rPr lang="fr-FR" sz="2000" dirty="0">
                <a:solidFill>
                  <a:schemeClr val="bg1"/>
                </a:solidFill>
                <a:latin typeface="Times New Roman" panose="02020603050405020304" pitchFamily="18" charset="0"/>
                <a:cs typeface="Times New Roman" panose="02020603050405020304" pitchFamily="18" charset="0"/>
              </a:rPr>
              <a:t>     └── NOM_Prenom_Presentation.pptx </a:t>
            </a:r>
          </a:p>
          <a:p>
            <a:r>
              <a:rPr lang="fr-FR" sz="2000" dirty="0">
                <a:solidFill>
                  <a:schemeClr val="bg1"/>
                </a:solidFill>
                <a:latin typeface="Times New Roman" panose="02020603050405020304" pitchFamily="18" charset="0"/>
                <a:cs typeface="Times New Roman" panose="02020603050405020304" pitchFamily="18" charset="0"/>
              </a:rPr>
              <a:t>├── README.md </a:t>
            </a:r>
          </a:p>
          <a:p>
            <a:r>
              <a:rPr lang="fr-FR" sz="2000">
                <a:solidFill>
                  <a:schemeClr val="bg1"/>
                </a:solidFill>
                <a:latin typeface="Times New Roman" panose="02020603050405020304" pitchFamily="18" charset="0"/>
                <a:cs typeface="Times New Roman" panose="02020603050405020304" pitchFamily="18" charset="0"/>
              </a:rPr>
              <a:t>└── </a:t>
            </a:r>
            <a:r>
              <a:rPr lang="fr-FR" sz="2000" dirty="0">
                <a:solidFill>
                  <a:schemeClr val="bg1"/>
                </a:solidFill>
                <a:latin typeface="Times New Roman" panose="02020603050405020304" pitchFamily="18" charset="0"/>
                <a:cs typeface="Times New Roman" panose="02020603050405020304" pitchFamily="18" charset="0"/>
              </a:rPr>
              <a:t>.gitignore </a:t>
            </a:r>
          </a:p>
        </p:txBody>
      </p:sp>
    </p:spTree>
    <p:extLst>
      <p:ext uri="{BB962C8B-B14F-4D97-AF65-F5344CB8AC3E}">
        <p14:creationId xmlns:p14="http://schemas.microsoft.com/office/powerpoint/2010/main" val="976078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E95B006-6661-291A-95B5-2813DD940483}"/>
              </a:ext>
            </a:extLst>
          </p:cNvPr>
          <p:cNvSpPr txBox="1"/>
          <p:nvPr/>
        </p:nvSpPr>
        <p:spPr>
          <a:xfrm>
            <a:off x="3110230" y="0"/>
            <a:ext cx="4733290" cy="743473"/>
          </a:xfrm>
          <a:prstGeom prst="rect">
            <a:avLst/>
          </a:prstGeom>
          <a:noFill/>
        </p:spPr>
        <p:txBody>
          <a:bodyPr wrap="square">
            <a:spAutoFit/>
          </a:bodyPr>
          <a:lstStyle/>
          <a:p>
            <a:pPr lvl="0">
              <a:lnSpc>
                <a:spcPct val="115000"/>
              </a:lnSpc>
              <a:spcAft>
                <a:spcPts val="800"/>
              </a:spcAft>
              <a:buSzPts val="1000"/>
              <a:tabLst>
                <a:tab pos="457200" algn="l"/>
              </a:tabLst>
            </a:pP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 </a:t>
            </a:r>
            <a:r>
              <a:rPr lang="fr-FR" sz="4000" b="1" u="sng" dirty="0">
                <a:solidFill>
                  <a:schemeClr val="bg1"/>
                </a:solidFill>
                <a:latin typeface="Times New Roman" panose="02020603050405020304" pitchFamily="18" charset="0"/>
                <a:cs typeface="Times New Roman" panose="02020603050405020304" pitchFamily="18" charset="0"/>
              </a:rPr>
              <a:t>Aperçu des Pages</a:t>
            </a:r>
            <a:endParaRPr lang="fr-FR" sz="4000"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4" name="Image 3">
            <a:extLst>
              <a:ext uri="{FF2B5EF4-FFF2-40B4-BE49-F238E27FC236}">
                <a16:creationId xmlns:a16="http://schemas.microsoft.com/office/drawing/2014/main" id="{7F8F36CF-5264-FA67-730A-B6B10E6863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10" y="1444153"/>
            <a:ext cx="2165762" cy="5215478"/>
          </a:xfrm>
          <a:prstGeom prst="rect">
            <a:avLst/>
          </a:prstGeom>
        </p:spPr>
      </p:pic>
      <p:sp>
        <p:nvSpPr>
          <p:cNvPr id="5" name="ZoneTexte 4">
            <a:extLst>
              <a:ext uri="{FF2B5EF4-FFF2-40B4-BE49-F238E27FC236}">
                <a16:creationId xmlns:a16="http://schemas.microsoft.com/office/drawing/2014/main" id="{894EECA2-D526-D6B2-5E50-9D925F0F2F6C}"/>
              </a:ext>
            </a:extLst>
          </p:cNvPr>
          <p:cNvSpPr txBox="1"/>
          <p:nvPr/>
        </p:nvSpPr>
        <p:spPr>
          <a:xfrm>
            <a:off x="2473713" y="984308"/>
            <a:ext cx="1539513" cy="461665"/>
          </a:xfrm>
          <a:prstGeom prst="rect">
            <a:avLst/>
          </a:prstGeom>
          <a:noFill/>
        </p:spPr>
        <p:txBody>
          <a:bodyPr wrap="square" rtlCol="0">
            <a:spAutoFit/>
          </a:bodyPr>
          <a:lstStyle/>
          <a:p>
            <a:r>
              <a:rPr lang="fr-FR" sz="2400" dirty="0">
                <a:solidFill>
                  <a:schemeClr val="bg1"/>
                </a:solidFill>
                <a:latin typeface="Times New Roman" panose="02020603050405020304" pitchFamily="18" charset="0"/>
                <a:cs typeface="Times New Roman" panose="02020603050405020304" pitchFamily="18" charset="0"/>
              </a:rPr>
              <a:t>Index.html</a:t>
            </a:r>
          </a:p>
        </p:txBody>
      </p:sp>
      <p:pic>
        <p:nvPicPr>
          <p:cNvPr id="9" name="Image 8">
            <a:extLst>
              <a:ext uri="{FF2B5EF4-FFF2-40B4-BE49-F238E27FC236}">
                <a16:creationId xmlns:a16="http://schemas.microsoft.com/office/drawing/2014/main" id="{5B24EC5D-08E8-7500-1A5E-C57FB1DC71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367" y="1444153"/>
            <a:ext cx="2215042" cy="5215478"/>
          </a:xfrm>
          <a:prstGeom prst="rect">
            <a:avLst/>
          </a:prstGeom>
        </p:spPr>
      </p:pic>
      <p:sp>
        <p:nvSpPr>
          <p:cNvPr id="10" name="ZoneTexte 9">
            <a:extLst>
              <a:ext uri="{FF2B5EF4-FFF2-40B4-BE49-F238E27FC236}">
                <a16:creationId xmlns:a16="http://schemas.microsoft.com/office/drawing/2014/main" id="{037A180B-1C00-3782-B435-90534798BE01}"/>
              </a:ext>
            </a:extLst>
          </p:cNvPr>
          <p:cNvSpPr txBox="1"/>
          <p:nvPr/>
        </p:nvSpPr>
        <p:spPr>
          <a:xfrm>
            <a:off x="464694" y="984308"/>
            <a:ext cx="1668690" cy="461665"/>
          </a:xfrm>
          <a:prstGeom prst="rect">
            <a:avLst/>
          </a:prstGeom>
          <a:noFill/>
        </p:spPr>
        <p:txBody>
          <a:bodyPr wrap="square" rtlCol="0">
            <a:spAutoFit/>
          </a:bodyPr>
          <a:lstStyle/>
          <a:p>
            <a:r>
              <a:rPr lang="fr-FR" sz="2400" dirty="0">
                <a:solidFill>
                  <a:schemeClr val="bg1"/>
                </a:solidFill>
                <a:latin typeface="Times New Roman" panose="02020603050405020304" pitchFamily="18" charset="0"/>
                <a:cs typeface="Times New Roman" panose="02020603050405020304" pitchFamily="18" charset="0"/>
              </a:rPr>
              <a:t>About.html</a:t>
            </a:r>
          </a:p>
        </p:txBody>
      </p:sp>
      <p:pic>
        <p:nvPicPr>
          <p:cNvPr id="12" name="Image 11">
            <a:extLst>
              <a:ext uri="{FF2B5EF4-FFF2-40B4-BE49-F238E27FC236}">
                <a16:creationId xmlns:a16="http://schemas.microsoft.com/office/drawing/2014/main" id="{66CF3240-0230-3F33-F0F6-EC225643EB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5409" y="1444153"/>
            <a:ext cx="2539586" cy="5215478"/>
          </a:xfrm>
          <a:prstGeom prst="rect">
            <a:avLst/>
          </a:prstGeom>
        </p:spPr>
      </p:pic>
      <p:sp>
        <p:nvSpPr>
          <p:cNvPr id="13" name="ZoneTexte 12">
            <a:extLst>
              <a:ext uri="{FF2B5EF4-FFF2-40B4-BE49-F238E27FC236}">
                <a16:creationId xmlns:a16="http://schemas.microsoft.com/office/drawing/2014/main" id="{5D527252-3F7F-0F87-5228-5A4F402F2EB6}"/>
              </a:ext>
            </a:extLst>
          </p:cNvPr>
          <p:cNvSpPr txBox="1"/>
          <p:nvPr/>
        </p:nvSpPr>
        <p:spPr>
          <a:xfrm>
            <a:off x="4750055" y="959136"/>
            <a:ext cx="1850294" cy="461665"/>
          </a:xfrm>
          <a:prstGeom prst="rect">
            <a:avLst/>
          </a:prstGeom>
          <a:noFill/>
        </p:spPr>
        <p:txBody>
          <a:bodyPr wrap="square" rtlCol="0">
            <a:spAutoFit/>
          </a:bodyPr>
          <a:lstStyle/>
          <a:p>
            <a:r>
              <a:rPr lang="fr-FR" sz="2400" dirty="0">
                <a:solidFill>
                  <a:schemeClr val="bg1"/>
                </a:solidFill>
                <a:latin typeface="Times New Roman" panose="02020603050405020304" pitchFamily="18" charset="0"/>
                <a:cs typeface="Times New Roman" panose="02020603050405020304" pitchFamily="18" charset="0"/>
              </a:rPr>
              <a:t>Contact.html</a:t>
            </a:r>
          </a:p>
        </p:txBody>
      </p:sp>
      <p:pic>
        <p:nvPicPr>
          <p:cNvPr id="15" name="Image 14">
            <a:extLst>
              <a:ext uri="{FF2B5EF4-FFF2-40B4-BE49-F238E27FC236}">
                <a16:creationId xmlns:a16="http://schemas.microsoft.com/office/drawing/2014/main" id="{1A24B449-FABA-D068-EC24-3C9AF17057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39282" y="1444759"/>
            <a:ext cx="2627156" cy="5215477"/>
          </a:xfrm>
          <a:prstGeom prst="rect">
            <a:avLst/>
          </a:prstGeom>
        </p:spPr>
      </p:pic>
      <p:sp>
        <p:nvSpPr>
          <p:cNvPr id="16" name="ZoneTexte 15">
            <a:extLst>
              <a:ext uri="{FF2B5EF4-FFF2-40B4-BE49-F238E27FC236}">
                <a16:creationId xmlns:a16="http://schemas.microsoft.com/office/drawing/2014/main" id="{09862992-9830-4D74-9C8F-BCF13AEB3696}"/>
              </a:ext>
            </a:extLst>
          </p:cNvPr>
          <p:cNvSpPr txBox="1"/>
          <p:nvPr/>
        </p:nvSpPr>
        <p:spPr>
          <a:xfrm>
            <a:off x="7270309" y="959136"/>
            <a:ext cx="2040502" cy="461665"/>
          </a:xfrm>
          <a:prstGeom prst="rect">
            <a:avLst/>
          </a:prstGeom>
          <a:noFill/>
        </p:spPr>
        <p:txBody>
          <a:bodyPr wrap="square" rtlCol="0">
            <a:spAutoFit/>
          </a:bodyPr>
          <a:lstStyle/>
          <a:p>
            <a:r>
              <a:rPr lang="fr-FR" sz="2400" dirty="0">
                <a:solidFill>
                  <a:schemeClr val="bg1"/>
                </a:solidFill>
                <a:latin typeface="Times New Roman" panose="02020603050405020304" pitchFamily="18" charset="0"/>
                <a:cs typeface="Times New Roman" panose="02020603050405020304" pitchFamily="18" charset="0"/>
              </a:rPr>
              <a:t>Freelance.html</a:t>
            </a:r>
          </a:p>
        </p:txBody>
      </p:sp>
      <p:pic>
        <p:nvPicPr>
          <p:cNvPr id="18" name="Image 17">
            <a:extLst>
              <a:ext uri="{FF2B5EF4-FFF2-40B4-BE49-F238E27FC236}">
                <a16:creationId xmlns:a16="http://schemas.microsoft.com/office/drawing/2014/main" id="{E25CE8F4-9AA4-F2F6-856F-52AD7D4028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66438" y="1444152"/>
            <a:ext cx="2583152" cy="5215477"/>
          </a:xfrm>
          <a:prstGeom prst="rect">
            <a:avLst/>
          </a:prstGeom>
        </p:spPr>
      </p:pic>
      <p:sp>
        <p:nvSpPr>
          <p:cNvPr id="19" name="ZoneTexte 18">
            <a:extLst>
              <a:ext uri="{FF2B5EF4-FFF2-40B4-BE49-F238E27FC236}">
                <a16:creationId xmlns:a16="http://schemas.microsoft.com/office/drawing/2014/main" id="{F3797885-9DDD-4784-C421-376333A35959}"/>
              </a:ext>
            </a:extLst>
          </p:cNvPr>
          <p:cNvSpPr txBox="1"/>
          <p:nvPr/>
        </p:nvSpPr>
        <p:spPr>
          <a:xfrm>
            <a:off x="10124077" y="959135"/>
            <a:ext cx="1467873" cy="461665"/>
          </a:xfrm>
          <a:prstGeom prst="rect">
            <a:avLst/>
          </a:prstGeom>
          <a:noFill/>
        </p:spPr>
        <p:txBody>
          <a:bodyPr wrap="square" rtlCol="0">
            <a:spAutoFit/>
          </a:bodyPr>
          <a:lstStyle/>
          <a:p>
            <a:r>
              <a:rPr lang="fr-FR" sz="2400" dirty="0">
                <a:solidFill>
                  <a:schemeClr val="bg1"/>
                </a:solidFill>
                <a:latin typeface="Times New Roman" panose="02020603050405020304" pitchFamily="18" charset="0"/>
                <a:cs typeface="Times New Roman" panose="02020603050405020304" pitchFamily="18" charset="0"/>
              </a:rPr>
              <a:t>Tarif.html</a:t>
            </a:r>
          </a:p>
        </p:txBody>
      </p:sp>
    </p:spTree>
    <p:extLst>
      <p:ext uri="{BB962C8B-B14F-4D97-AF65-F5344CB8AC3E}">
        <p14:creationId xmlns:p14="http://schemas.microsoft.com/office/powerpoint/2010/main" val="378388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A63CE02-4285-DF39-8C36-143B4F7B8084}"/>
              </a:ext>
            </a:extLst>
          </p:cNvPr>
          <p:cNvSpPr txBox="1"/>
          <p:nvPr/>
        </p:nvSpPr>
        <p:spPr>
          <a:xfrm>
            <a:off x="2560637" y="0"/>
            <a:ext cx="7070726" cy="743473"/>
          </a:xfrm>
          <a:prstGeom prst="rect">
            <a:avLst/>
          </a:prstGeom>
          <a:noFill/>
        </p:spPr>
        <p:txBody>
          <a:bodyPr wrap="square">
            <a:spAutoFit/>
          </a:bodyPr>
          <a:lstStyle/>
          <a:p>
            <a:pPr lvl="0">
              <a:lnSpc>
                <a:spcPct val="115000"/>
              </a:lnSpc>
              <a:spcAft>
                <a:spcPts val="800"/>
              </a:spcAft>
              <a:buSzPts val="1000"/>
              <a:tabLst>
                <a:tab pos="457200" algn="l"/>
              </a:tabLst>
            </a:pPr>
            <a:r>
              <a:rPr lang="fr-FR" sz="40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IV</a:t>
            </a: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EXPERTISE</a:t>
            </a:r>
            <a:r>
              <a:rPr lang="fr-FR" sz="4000" b="1" u="sng" dirty="0">
                <a:solidFill>
                  <a:schemeClr val="bg1"/>
                </a:solidFill>
                <a:latin typeface="Times New Roman" panose="02020603050405020304" pitchFamily="18" charset="0"/>
                <a:cs typeface="Times New Roman" panose="02020603050405020304" pitchFamily="18" charset="0"/>
              </a:rPr>
              <a:t> TECHNIQUE</a:t>
            </a: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fr-FR" sz="40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92375C2D-9145-9386-E693-5F8E9F0639B5}"/>
              </a:ext>
            </a:extLst>
          </p:cNvPr>
          <p:cNvSpPr txBox="1"/>
          <p:nvPr/>
        </p:nvSpPr>
        <p:spPr>
          <a:xfrm>
            <a:off x="2484120" y="841494"/>
            <a:ext cx="7223760" cy="707886"/>
          </a:xfrm>
          <a:prstGeom prst="rect">
            <a:avLst/>
          </a:prstGeom>
          <a:noFill/>
        </p:spPr>
        <p:txBody>
          <a:bodyPr wrap="square">
            <a:spAutoFit/>
          </a:bodyPr>
          <a:lstStyle/>
          <a:p>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a:t>
            </a:r>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Intégration CSS &amp; Bootstrap</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D9BFB916-1EC6-5785-51AC-63162D1AD337}"/>
              </a:ext>
            </a:extLst>
          </p:cNvPr>
          <p:cNvSpPr txBox="1"/>
          <p:nvPr/>
        </p:nvSpPr>
        <p:spPr>
          <a:xfrm>
            <a:off x="111760" y="1549380"/>
            <a:ext cx="11968480" cy="6124754"/>
          </a:xfrm>
          <a:prstGeom prst="rect">
            <a:avLst/>
          </a:prstGeom>
          <a:noFill/>
        </p:spPr>
        <p:txBody>
          <a:bodyPr wrap="square">
            <a:spAutoFit/>
          </a:bodyPr>
          <a:lstStyle/>
          <a:p>
            <a:r>
              <a:rPr lang="fr-FR" sz="2800" dirty="0">
                <a:solidFill>
                  <a:schemeClr val="bg1"/>
                </a:solidFill>
                <a:latin typeface="Times New Roman" panose="02020603050405020304" pitchFamily="18" charset="0"/>
                <a:cs typeface="Times New Roman" panose="02020603050405020304" pitchFamily="18" charset="0"/>
              </a:rPr>
              <a:t>Mon projet utilise la </a:t>
            </a:r>
            <a:r>
              <a:rPr lang="fr-FR" sz="2800" b="1" dirty="0">
                <a:solidFill>
                  <a:schemeClr val="bg1"/>
                </a:solidFill>
                <a:latin typeface="Times New Roman" panose="02020603050405020304" pitchFamily="18" charset="0"/>
                <a:cs typeface="Times New Roman" panose="02020603050405020304" pitchFamily="18" charset="0"/>
              </a:rPr>
              <a:t>grille Bootstrap</a:t>
            </a:r>
            <a:r>
              <a:rPr lang="fr-FR" sz="2800" dirty="0">
                <a:solidFill>
                  <a:schemeClr val="bg1"/>
                </a:solidFill>
                <a:latin typeface="Times New Roman" panose="02020603050405020304" pitchFamily="18" charset="0"/>
                <a:cs typeface="Times New Roman" panose="02020603050405020304" pitchFamily="18" charset="0"/>
              </a:rPr>
              <a:t> pour structurer les catalogues et les sections d'équipe en colonnes adaptatives, ainsi que des </a:t>
            </a:r>
            <a:r>
              <a:rPr lang="fr-FR" sz="2800" b="1" dirty="0">
                <a:solidFill>
                  <a:schemeClr val="bg1"/>
                </a:solidFill>
                <a:latin typeface="Times New Roman" panose="02020603050405020304" pitchFamily="18" charset="0"/>
                <a:cs typeface="Times New Roman" panose="02020603050405020304" pitchFamily="18" charset="0"/>
              </a:rPr>
              <a:t>utilitaires Flexbox</a:t>
            </a:r>
            <a:r>
              <a:rPr lang="fr-FR" sz="2800" dirty="0">
                <a:solidFill>
                  <a:schemeClr val="bg1"/>
                </a:solidFill>
                <a:latin typeface="Times New Roman" panose="02020603050405020304" pitchFamily="18" charset="0"/>
                <a:cs typeface="Times New Roman" panose="02020603050405020304" pitchFamily="18" charset="0"/>
              </a:rPr>
              <a:t> pour l'alignement précis des éléments de navigation. Les </a:t>
            </a:r>
            <a:r>
              <a:rPr lang="fr-FR" sz="2800" b="1" dirty="0">
                <a:solidFill>
                  <a:schemeClr val="bg1"/>
                </a:solidFill>
                <a:latin typeface="Times New Roman" panose="02020603050405020304" pitchFamily="18" charset="0"/>
                <a:cs typeface="Times New Roman" panose="02020603050405020304" pitchFamily="18" charset="0"/>
              </a:rPr>
              <a:t>composants interactifs</a:t>
            </a:r>
            <a:r>
              <a:rPr lang="fr-FR" sz="2800" dirty="0">
                <a:solidFill>
                  <a:schemeClr val="bg1"/>
                </a:solidFill>
                <a:latin typeface="Times New Roman" panose="02020603050405020304" pitchFamily="18" charset="0"/>
                <a:cs typeface="Times New Roman" panose="02020603050405020304" pitchFamily="18" charset="0"/>
              </a:rPr>
              <a:t> (Carrousel pour les témoignages et Accordion pour la FAQ) permettent d'organiser des contenus denses de manière dynamique. Il utilise aussi des propriétés CSS comme:</a:t>
            </a:r>
          </a:p>
          <a:p>
            <a:r>
              <a:rPr lang="fr-FR" sz="2800" b="1" dirty="0">
                <a:solidFill>
                  <a:schemeClr val="bg1"/>
                </a:solidFill>
                <a:latin typeface="Times New Roman" panose="02020603050405020304" pitchFamily="18" charset="0"/>
                <a:cs typeface="Times New Roman" panose="02020603050405020304" pitchFamily="18" charset="0"/>
              </a:rPr>
              <a:t>Opacity:0 </a:t>
            </a:r>
            <a:r>
              <a:rPr lang="fr-FR" sz="2800" dirty="0">
                <a:solidFill>
                  <a:schemeClr val="bg1"/>
                </a:solidFill>
                <a:latin typeface="Times New Roman" panose="02020603050405020304" pitchFamily="18" charset="0"/>
                <a:cs typeface="Times New Roman" panose="02020603050405020304" pitchFamily="18" charset="0"/>
              </a:rPr>
              <a:t>qui rend une section initialement invisible à 100</a:t>
            </a:r>
            <a:r>
              <a:rPr lang="en-US" sz="2800" dirty="0">
                <a:solidFill>
                  <a:schemeClr val="bg1"/>
                </a:solidFill>
                <a:latin typeface="Times New Roman" panose="02020603050405020304" pitchFamily="18" charset="0"/>
                <a:cs typeface="Times New Roman" panose="02020603050405020304" pitchFamily="18" charset="0"/>
              </a:rPr>
              <a:t>%</a:t>
            </a:r>
            <a:r>
              <a:rPr lang="fr-FR" sz="2800" dirty="0">
                <a:solidFill>
                  <a:schemeClr val="bg1"/>
                </a:solidFill>
                <a:latin typeface="Times New Roman" panose="02020603050405020304" pitchFamily="18" charset="0"/>
                <a:cs typeface="Times New Roman" panose="02020603050405020304" pitchFamily="18" charset="0"/>
              </a:rPr>
              <a:t> pour masquer le contenu tant que l’utilisateur n’a pas défilé jusqu’à lui.</a:t>
            </a:r>
          </a:p>
          <a:p>
            <a:r>
              <a:rPr lang="fr-FR" sz="2800" b="1" dirty="0">
                <a:solidFill>
                  <a:schemeClr val="bg1"/>
                </a:solidFill>
                <a:latin typeface="Times New Roman" panose="02020603050405020304" pitchFamily="18" charset="0"/>
                <a:cs typeface="Times New Roman" panose="02020603050405020304" pitchFamily="18" charset="0"/>
              </a:rPr>
              <a:t>Transform: translateY (20px) </a:t>
            </a:r>
            <a:r>
              <a:rPr lang="fr-FR" sz="2800" dirty="0">
                <a:solidFill>
                  <a:schemeClr val="bg1"/>
                </a:solidFill>
                <a:latin typeface="Times New Roman" panose="02020603050405020304" pitchFamily="18" charset="0"/>
                <a:cs typeface="Times New Roman" panose="02020603050405020304" pitchFamily="18" charset="0"/>
              </a:rPr>
              <a:t>qui décale l’élément de 20px vers le bas pour préparer un effet de surgissement dynamique et naturel.</a:t>
            </a:r>
          </a:p>
          <a:p>
            <a:r>
              <a:rPr lang="fr-FR" sz="2800" b="1" dirty="0">
                <a:solidFill>
                  <a:schemeClr val="bg1"/>
                </a:solidFill>
                <a:latin typeface="Times New Roman" panose="02020603050405020304" pitchFamily="18" charset="0"/>
                <a:cs typeface="Times New Roman" panose="02020603050405020304" pitchFamily="18" charset="0"/>
              </a:rPr>
              <a:t>Transition: opacity 1.2s ease-out </a:t>
            </a:r>
            <a:r>
              <a:rPr lang="fr-FR" sz="2800" dirty="0">
                <a:solidFill>
                  <a:schemeClr val="bg1"/>
                </a:solidFill>
                <a:latin typeface="Times New Roman" panose="02020603050405020304" pitchFamily="18" charset="0"/>
                <a:cs typeface="Times New Roman" panose="02020603050405020304" pitchFamily="18" charset="0"/>
              </a:rPr>
              <a:t>qui anime en douceur le retour à la normale pendant 1.2s en accélérant au début et en ralentissant à la fin.</a:t>
            </a:r>
          </a:p>
          <a:p>
            <a:endParaRPr lang="fr-FR" sz="2800" dirty="0">
              <a:solidFill>
                <a:schemeClr val="bg1"/>
              </a:solidFill>
              <a:latin typeface="Times New Roman" panose="02020603050405020304" pitchFamily="18" charset="0"/>
              <a:cs typeface="Times New Roman" panose="02020603050405020304" pitchFamily="18" charset="0"/>
            </a:endParaRPr>
          </a:p>
          <a:p>
            <a:endParaRPr lang="fr-FR"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441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5C26C0F-210D-6C5B-2EFE-44E17675EDCB}"/>
              </a:ext>
            </a:extLst>
          </p:cNvPr>
          <p:cNvSpPr txBox="1"/>
          <p:nvPr/>
        </p:nvSpPr>
        <p:spPr>
          <a:xfrm>
            <a:off x="2484120" y="0"/>
            <a:ext cx="722376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B.</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Intégration </a:t>
            </a:r>
            <a:r>
              <a:rPr lang="fr-FR" sz="4000" b="1" u="sng"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du Java Script</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1013AE0D-D143-2E76-5E2F-952E96941C04}"/>
              </a:ext>
            </a:extLst>
          </p:cNvPr>
          <p:cNvSpPr txBox="1"/>
          <p:nvPr/>
        </p:nvSpPr>
        <p:spPr>
          <a:xfrm>
            <a:off x="274320" y="707886"/>
            <a:ext cx="11826240" cy="3539430"/>
          </a:xfrm>
          <a:prstGeom prst="rect">
            <a:avLst/>
          </a:prstGeom>
          <a:noFill/>
        </p:spPr>
        <p:txBody>
          <a:bodyPr wrap="square" rtlCol="0">
            <a:spAutoFit/>
          </a:bodyPr>
          <a:lstStyle/>
          <a:p>
            <a:r>
              <a:rPr lang="fr-FR" sz="2800" dirty="0">
                <a:solidFill>
                  <a:schemeClr val="bg1"/>
                </a:solidFill>
                <a:latin typeface="Times New Roman" panose="02020603050405020304" pitchFamily="18" charset="0"/>
                <a:cs typeface="Times New Roman" panose="02020603050405020304" pitchFamily="18" charset="0"/>
              </a:rPr>
              <a:t>Mon projet utilise une interface de programmation d’application(API) </a:t>
            </a:r>
            <a:r>
              <a:rPr lang="fr-FR" sz="2800" b="1" dirty="0">
                <a:solidFill>
                  <a:schemeClr val="bg1"/>
                </a:solidFill>
                <a:latin typeface="Times New Roman" panose="02020603050405020304" pitchFamily="18" charset="0"/>
                <a:cs typeface="Times New Roman" panose="02020603050405020304" pitchFamily="18" charset="0"/>
              </a:rPr>
              <a:t>IntersectionObserver</a:t>
            </a:r>
            <a:r>
              <a:rPr lang="fr-FR" sz="2800" dirty="0">
                <a:solidFill>
                  <a:schemeClr val="bg1"/>
                </a:solidFill>
                <a:latin typeface="Times New Roman" panose="02020603050405020304" pitchFamily="18" charset="0"/>
                <a:cs typeface="Times New Roman" panose="02020603050405020304" pitchFamily="18" charset="0"/>
              </a:rPr>
              <a:t>. Cet outil agit comme un surveillant invisible capable de détecter automatiquement le moment précis où une section entre dans la zone visible de l’écran. Les options définissent une barrière virtuelle de 100px pour anticiper le défilement et s’assurer que l’animation se déclenche de façon naturelle. La commande </a:t>
            </a:r>
            <a:r>
              <a:rPr lang="fr-FR" sz="2800" b="1" dirty="0">
                <a:solidFill>
                  <a:schemeClr val="bg1"/>
                </a:solidFill>
                <a:latin typeface="Times New Roman" panose="02020603050405020304" pitchFamily="18" charset="0"/>
                <a:cs typeface="Times New Roman" panose="02020603050405020304" pitchFamily="18" charset="0"/>
              </a:rPr>
              <a:t>Unobserve</a:t>
            </a:r>
            <a:r>
              <a:rPr lang="fr-FR" sz="2800" dirty="0">
                <a:solidFill>
                  <a:schemeClr val="bg1"/>
                </a:solidFill>
                <a:latin typeface="Times New Roman" panose="02020603050405020304" pitchFamily="18" charset="0"/>
                <a:cs typeface="Times New Roman" panose="02020603050405020304" pitchFamily="18" charset="0"/>
              </a:rPr>
              <a:t> arrête immédiatement la surveillance dès que la section est apparue afin de libérer la mémoire et d’éviter les calculs inutiles.</a:t>
            </a:r>
          </a:p>
        </p:txBody>
      </p:sp>
      <p:sp>
        <p:nvSpPr>
          <p:cNvPr id="5" name="ZoneTexte 4">
            <a:extLst>
              <a:ext uri="{FF2B5EF4-FFF2-40B4-BE49-F238E27FC236}">
                <a16:creationId xmlns:a16="http://schemas.microsoft.com/office/drawing/2014/main" id="{CE4D3EA5-6180-AD2B-7CE1-D0384CF8BBB7}"/>
              </a:ext>
            </a:extLst>
          </p:cNvPr>
          <p:cNvSpPr txBox="1"/>
          <p:nvPr/>
        </p:nvSpPr>
        <p:spPr>
          <a:xfrm>
            <a:off x="2026920" y="4023360"/>
            <a:ext cx="722376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C.</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Validation du code par regex</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586B9C6C-9B83-26E8-C499-512605F2F205}"/>
              </a:ext>
            </a:extLst>
          </p:cNvPr>
          <p:cNvSpPr txBox="1"/>
          <p:nvPr/>
        </p:nvSpPr>
        <p:spPr>
          <a:xfrm>
            <a:off x="274320" y="4836160"/>
            <a:ext cx="11633200" cy="1938992"/>
          </a:xfrm>
          <a:prstGeom prst="rect">
            <a:avLst/>
          </a:prstGeom>
          <a:noFill/>
        </p:spPr>
        <p:txBody>
          <a:bodyPr wrap="square" rtlCol="0">
            <a:spAutoFit/>
          </a:bodyPr>
          <a:lstStyle/>
          <a:p>
            <a:r>
              <a:rPr lang="fr-FR" sz="2400" dirty="0">
                <a:solidFill>
                  <a:schemeClr val="bg1"/>
                </a:solidFill>
              </a:rPr>
              <a:t>Pour mon projet, la validation par regex est utilisée pour contrôler la structure de l'adresse email dans le formulaire. L'expression régulière </a:t>
            </a:r>
            <a:r>
              <a:rPr lang="fr-FR" b="1" dirty="0">
                <a:solidFill>
                  <a:schemeClr val="bg1"/>
                </a:solidFill>
              </a:rPr>
              <a:t>/^[^\s@]+@[^\s@]+\.[^\s@]+$/</a:t>
            </a:r>
            <a:r>
              <a:rPr lang="fr-FR" sz="2400" b="1" dirty="0">
                <a:solidFill>
                  <a:schemeClr val="bg1"/>
                </a:solidFill>
              </a:rPr>
              <a:t> </a:t>
            </a:r>
            <a:r>
              <a:rPr lang="fr-FR" sz="2400" dirty="0">
                <a:solidFill>
                  <a:schemeClr val="bg1"/>
                </a:solidFill>
              </a:rPr>
              <a:t>vérifie en temps réel la présence obligatoire du symbole</a:t>
            </a:r>
            <a:r>
              <a:rPr lang="fr-FR" sz="2400" b="1" dirty="0">
                <a:solidFill>
                  <a:schemeClr val="bg1"/>
                </a:solidFill>
              </a:rPr>
              <a:t> </a:t>
            </a:r>
            <a:r>
              <a:rPr lang="fr-FR" b="1" dirty="0">
                <a:solidFill>
                  <a:schemeClr val="bg1"/>
                </a:solidFill>
              </a:rPr>
              <a:t>@</a:t>
            </a:r>
            <a:r>
              <a:rPr lang="fr-FR" sz="2400" b="1" dirty="0">
                <a:solidFill>
                  <a:schemeClr val="bg1"/>
                </a:solidFill>
              </a:rPr>
              <a:t> </a:t>
            </a:r>
            <a:r>
              <a:rPr lang="fr-FR" sz="2400" dirty="0">
                <a:solidFill>
                  <a:schemeClr val="bg1"/>
                </a:solidFill>
              </a:rPr>
              <a:t>et d'un point valide. Si le test échoue, JavaScript bloque l'envoi et applique la classe Bootstrap </a:t>
            </a:r>
            <a:r>
              <a:rPr lang="fr-FR" sz="2400" b="1" dirty="0">
                <a:solidFill>
                  <a:schemeClr val="bg1"/>
                </a:solidFill>
              </a:rPr>
              <a:t>is-invalid</a:t>
            </a:r>
            <a:r>
              <a:rPr lang="fr-FR" sz="2400" dirty="0">
                <a:solidFill>
                  <a:schemeClr val="bg1"/>
                </a:solidFill>
              </a:rPr>
              <a:t> pour afficher une erreur visuelle.</a:t>
            </a:r>
            <a:endParaRPr lang="fr-FR"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420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7FA05D5-2F42-4C0E-973C-9C3D3DFAD020}"/>
              </a:ext>
            </a:extLst>
          </p:cNvPr>
          <p:cNvSpPr txBox="1"/>
          <p:nvPr/>
        </p:nvSpPr>
        <p:spPr>
          <a:xfrm>
            <a:off x="640080" y="-162560"/>
            <a:ext cx="10911840" cy="743473"/>
          </a:xfrm>
          <a:prstGeom prst="rect">
            <a:avLst/>
          </a:prstGeom>
          <a:noFill/>
        </p:spPr>
        <p:txBody>
          <a:bodyPr wrap="square">
            <a:spAutoFit/>
          </a:bodyPr>
          <a:lstStyle/>
          <a:p>
            <a:pPr lvl="0">
              <a:lnSpc>
                <a:spcPct val="115000"/>
              </a:lnSpc>
              <a:spcAft>
                <a:spcPts val="800"/>
              </a:spcAft>
              <a:buSzPts val="1000"/>
              <a:tabLst>
                <a:tab pos="457200" algn="l"/>
              </a:tabLst>
            </a:pPr>
            <a:r>
              <a:rPr lang="fr-FR" sz="40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V</a:t>
            </a: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GESTION DU PROJET ET DEPLOIEMENT</a:t>
            </a: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fr-FR" sz="40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3" name="ZoneTexte 2">
            <a:extLst>
              <a:ext uri="{FF2B5EF4-FFF2-40B4-BE49-F238E27FC236}">
                <a16:creationId xmlns:a16="http://schemas.microsoft.com/office/drawing/2014/main" id="{A432EF21-1B07-5EEA-DE83-F7A964271C99}"/>
              </a:ext>
            </a:extLst>
          </p:cNvPr>
          <p:cNvSpPr txBox="1"/>
          <p:nvPr/>
        </p:nvSpPr>
        <p:spPr>
          <a:xfrm>
            <a:off x="3446780" y="308250"/>
            <a:ext cx="529844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Gestion via GitHub</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E7C8721F-52BD-E336-95E3-35D00FD33C5D}"/>
              </a:ext>
            </a:extLst>
          </p:cNvPr>
          <p:cNvSpPr txBox="1"/>
          <p:nvPr/>
        </p:nvSpPr>
        <p:spPr>
          <a:xfrm>
            <a:off x="325120" y="856357"/>
            <a:ext cx="11866880" cy="6001643"/>
          </a:xfrm>
          <a:prstGeom prst="rect">
            <a:avLst/>
          </a:prstGeom>
          <a:noFill/>
        </p:spPr>
        <p:txBody>
          <a:bodyPr wrap="square" rtlCol="0">
            <a:spAutoFit/>
          </a:bodyPr>
          <a:lstStyle/>
          <a:p>
            <a:r>
              <a:rPr lang="fr-FR" sz="2400" b="1" dirty="0">
                <a:solidFill>
                  <a:schemeClr val="bg1"/>
                </a:solidFill>
                <a:latin typeface="Times New Roman" panose="02020603050405020304" pitchFamily="18" charset="0"/>
                <a:cs typeface="Times New Roman" panose="02020603050405020304" pitchFamily="18" charset="0"/>
              </a:rPr>
              <a:t>Commit 10- </a:t>
            </a:r>
            <a:r>
              <a:rPr lang="fr-FR" sz="2400" dirty="0">
                <a:solidFill>
                  <a:schemeClr val="bg1"/>
                </a:solidFill>
              </a:rPr>
              <a:t>Déploiement : GitHub Pages activé, README finalisé et présentation PowerPoint ajoutée (04-06-2026)</a:t>
            </a:r>
          </a:p>
          <a:p>
            <a:r>
              <a:rPr lang="fr-FR" sz="2400" b="1" dirty="0">
                <a:solidFill>
                  <a:schemeClr val="bg1"/>
                </a:solidFill>
                <a:latin typeface="Times New Roman" panose="02020603050405020304" pitchFamily="18" charset="0"/>
                <a:cs typeface="Times New Roman" panose="02020603050405020304" pitchFamily="18" charset="0"/>
              </a:rPr>
              <a:t>Commit 9- </a:t>
            </a:r>
            <a:r>
              <a:rPr lang="fr-FR" sz="2400" dirty="0">
                <a:solidFill>
                  <a:schemeClr val="bg1"/>
                </a:solidFill>
              </a:rPr>
              <a:t>Finalisation : corrections responsive, optimisation du code et commentaires (28-05-2026)</a:t>
            </a:r>
          </a:p>
          <a:p>
            <a:r>
              <a:rPr lang="fr-FR" sz="2400" b="1" dirty="0">
                <a:solidFill>
                  <a:schemeClr val="bg1"/>
                </a:solidFill>
                <a:latin typeface="Times New Roman" panose="02020603050405020304" pitchFamily="18" charset="0"/>
                <a:cs typeface="Times New Roman" panose="02020603050405020304" pitchFamily="18" charset="0"/>
              </a:rPr>
              <a:t>Commit 8- </a:t>
            </a:r>
            <a:r>
              <a:rPr lang="fr-FR" sz="2400" dirty="0">
                <a:solidFill>
                  <a:schemeClr val="bg1"/>
                </a:solidFill>
              </a:rPr>
              <a:t>JS : filtrage dynamique des freelances et validation du formulaire de contact (25-05-2026)</a:t>
            </a:r>
          </a:p>
          <a:p>
            <a:r>
              <a:rPr lang="fr-FR" sz="2400" b="1" dirty="0">
                <a:solidFill>
                  <a:schemeClr val="bg1"/>
                </a:solidFill>
                <a:latin typeface="Times New Roman" panose="02020603050405020304" pitchFamily="18" charset="0"/>
                <a:cs typeface="Times New Roman" panose="02020603050405020304" pitchFamily="18" charset="0"/>
              </a:rPr>
              <a:t>Commit 7</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JS : compteurs animés au scroll et animations fade-in des sections (22-05-2026)</a:t>
            </a:r>
          </a:p>
          <a:p>
            <a:r>
              <a:rPr lang="fr-FR" sz="2400" b="1" dirty="0">
                <a:solidFill>
                  <a:schemeClr val="bg1"/>
                </a:solidFill>
                <a:latin typeface="Times New Roman" panose="02020603050405020304" pitchFamily="18" charset="0"/>
                <a:cs typeface="Times New Roman" panose="02020603050405020304" pitchFamily="18" charset="0"/>
              </a:rPr>
              <a:t>Commit 6</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JS : dark mode avec localStorage, navbar dynamique au scroll (20-05-2026)</a:t>
            </a:r>
          </a:p>
          <a:p>
            <a:r>
              <a:rPr lang="fr-FR" sz="2400" b="1" dirty="0">
                <a:solidFill>
                  <a:schemeClr val="bg1"/>
                </a:solidFill>
                <a:latin typeface="Times New Roman" panose="02020603050405020304" pitchFamily="18" charset="0"/>
                <a:cs typeface="Times New Roman" panose="02020603050405020304" pitchFamily="18" charset="0"/>
              </a:rPr>
              <a:t>Commit 5</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CSS : responsive design mobile et tablette, media queries (17-05-2026)</a:t>
            </a:r>
          </a:p>
          <a:p>
            <a:r>
              <a:rPr lang="fr-FR" sz="2400" b="1" dirty="0">
                <a:solidFill>
                  <a:schemeClr val="bg1"/>
                </a:solidFill>
                <a:latin typeface="Times New Roman" panose="02020603050405020304" pitchFamily="18" charset="0"/>
                <a:cs typeface="Times New Roman" panose="02020603050405020304" pitchFamily="18" charset="0"/>
              </a:rPr>
              <a:t>Commit 4</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CSS : Bento Grid, sections héros et catégories, effets hover (04-05-2026)</a:t>
            </a:r>
          </a:p>
          <a:p>
            <a:r>
              <a:rPr lang="fr-FR" sz="2400" b="1" dirty="0">
                <a:solidFill>
                  <a:schemeClr val="bg1"/>
                </a:solidFill>
                <a:latin typeface="Times New Roman" panose="02020603050405020304" pitchFamily="18" charset="0"/>
                <a:cs typeface="Times New Roman" panose="02020603050405020304" pitchFamily="18" charset="0"/>
              </a:rPr>
              <a:t>Commit 3</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CSS : variables, typographie, Layout général et styles de base (15-04-2026)</a:t>
            </a:r>
          </a:p>
          <a:p>
            <a:r>
              <a:rPr lang="fr-FR" sz="2400" b="1" dirty="0">
                <a:solidFill>
                  <a:schemeClr val="bg1"/>
                </a:solidFill>
                <a:latin typeface="Times New Roman" panose="02020603050405020304" pitchFamily="18" charset="0"/>
                <a:cs typeface="Times New Roman" panose="02020603050405020304" pitchFamily="18" charset="0"/>
              </a:rPr>
              <a:t>Commit 2</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HTML : structure complète des 5 pages avec sections et contenu texte (10-04-2026</a:t>
            </a:r>
          </a:p>
          <a:p>
            <a:r>
              <a:rPr lang="fr-FR" sz="2400" b="1" dirty="0">
                <a:solidFill>
                  <a:schemeClr val="bg1"/>
                </a:solidFill>
                <a:latin typeface="Times New Roman" panose="02020603050405020304" pitchFamily="18" charset="0"/>
                <a:cs typeface="Times New Roman" panose="02020603050405020304" pitchFamily="18" charset="0"/>
              </a:rPr>
              <a:t>Commit 1</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Init : création du dépôt, arborescence des fichiers et structure HTML de base (08-04-2026)</a:t>
            </a:r>
            <a:endParaRPr lang="fr-FR"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80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6C7A650-148B-F14E-5C4A-DA6378A3D3B4}"/>
              </a:ext>
            </a:extLst>
          </p:cNvPr>
          <p:cNvSpPr txBox="1"/>
          <p:nvPr/>
        </p:nvSpPr>
        <p:spPr>
          <a:xfrm>
            <a:off x="172720" y="240992"/>
            <a:ext cx="11450320" cy="830997"/>
          </a:xfrm>
          <a:prstGeom prst="rect">
            <a:avLst/>
          </a:prstGeom>
          <a:noFill/>
        </p:spPr>
        <p:txBody>
          <a:bodyPr wrap="square" rtlCol="0">
            <a:spAutoFit/>
          </a:bodyPr>
          <a:lstStyle/>
          <a:p>
            <a:r>
              <a:rPr lang="fr-FR" sz="2400" dirty="0">
                <a:solidFill>
                  <a:schemeClr val="bg1"/>
                </a:solidFill>
                <a:latin typeface="Times New Roman" panose="02020603050405020304" pitchFamily="18" charset="0"/>
                <a:cs typeface="Times New Roman" panose="02020603050405020304" pitchFamily="18" charset="0"/>
              </a:rPr>
              <a:t>Lien vers le site hébergé sur </a:t>
            </a:r>
            <a:r>
              <a:rPr lang="fr-FR" sz="2400" b="1" dirty="0">
                <a:solidFill>
                  <a:schemeClr val="bg1"/>
                </a:solidFill>
                <a:latin typeface="Times New Roman" panose="02020603050405020304" pitchFamily="18" charset="0"/>
                <a:cs typeface="Times New Roman" panose="02020603050405020304" pitchFamily="18" charset="0"/>
              </a:rPr>
              <a:t>GitHub Pages: </a:t>
            </a:r>
            <a:r>
              <a:rPr lang="fr-FR" sz="2400" b="1"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https://btan172.github.io/Aphie-Noakh-AfriTalent/</a:t>
            </a:r>
            <a:r>
              <a:rPr lang="fr-FR" sz="2400" b="1" dirty="0">
                <a:solidFill>
                  <a:schemeClr val="bg1"/>
                </a:solidFill>
                <a:latin typeface="Times New Roman" panose="02020603050405020304" pitchFamily="18" charset="0"/>
                <a:cs typeface="Times New Roman" panose="02020603050405020304" pitchFamily="18" charset="0"/>
              </a:rPr>
              <a:t> </a:t>
            </a:r>
          </a:p>
        </p:txBody>
      </p:sp>
      <p:sp>
        <p:nvSpPr>
          <p:cNvPr id="3" name="ZoneTexte 2">
            <a:extLst>
              <a:ext uri="{FF2B5EF4-FFF2-40B4-BE49-F238E27FC236}">
                <a16:creationId xmlns:a16="http://schemas.microsoft.com/office/drawing/2014/main" id="{9D7C43A4-B290-03F2-97BF-F4096A2A3F76}"/>
              </a:ext>
            </a:extLst>
          </p:cNvPr>
          <p:cNvSpPr txBox="1"/>
          <p:nvPr/>
        </p:nvSpPr>
        <p:spPr>
          <a:xfrm>
            <a:off x="782319" y="1071265"/>
            <a:ext cx="1062736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B.</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Difficultés rencontrées et Solutions apportées</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09956CD4-0576-ED71-272A-43EFA859D2AC}"/>
              </a:ext>
            </a:extLst>
          </p:cNvPr>
          <p:cNvSpPr txBox="1"/>
          <p:nvPr/>
        </p:nvSpPr>
        <p:spPr>
          <a:xfrm>
            <a:off x="279399" y="2231191"/>
            <a:ext cx="11633201" cy="4154984"/>
          </a:xfrm>
          <a:prstGeom prst="rect">
            <a:avLst/>
          </a:prstGeom>
          <a:noFill/>
        </p:spPr>
        <p:txBody>
          <a:bodyPr wrap="square" rtlCol="0">
            <a:spAutoFit/>
          </a:bodyPr>
          <a:lstStyle/>
          <a:p>
            <a:pPr marL="457200" indent="-457200">
              <a:buAutoNum type="arabicPeriod"/>
            </a:pPr>
            <a:r>
              <a:rPr lang="fr-FR" sz="2400" b="1" u="sng" dirty="0">
                <a:solidFill>
                  <a:schemeClr val="bg1"/>
                </a:solidFill>
                <a:latin typeface="Times New Roman" panose="02020603050405020304" pitchFamily="18" charset="0"/>
                <a:cs typeface="Times New Roman" panose="02020603050405020304" pitchFamily="18" charset="0"/>
              </a:rPr>
              <a:t>Grille Bento responsive</a:t>
            </a:r>
          </a:p>
          <a:p>
            <a:r>
              <a:rPr lang="fr-FR" sz="2400" dirty="0">
                <a:solidFill>
                  <a:schemeClr val="bg1"/>
                </a:solidFill>
                <a:latin typeface="Times New Roman" panose="02020603050405020304" pitchFamily="18" charset="0"/>
                <a:cs typeface="Times New Roman" panose="02020603050405020304" pitchFamily="18" charset="0"/>
              </a:rPr>
              <a:t>    </a:t>
            </a:r>
            <a:r>
              <a:rPr lang="fr-FR" sz="2400" b="1" u="sng" dirty="0">
                <a:solidFill>
                  <a:schemeClr val="bg1"/>
                </a:solidFill>
                <a:latin typeface="Times New Roman" panose="02020603050405020304" pitchFamily="18" charset="0"/>
                <a:cs typeface="Times New Roman" panose="02020603050405020304" pitchFamily="18" charset="0"/>
              </a:rPr>
              <a:t>Difficulté</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Ranger des blocs de tailles différentes sur ordinateur sans tout déformer sur un téléphone mobile.</a:t>
            </a:r>
          </a:p>
          <a:p>
            <a:r>
              <a:rPr lang="fr-FR" sz="2400" b="1" dirty="0">
                <a:solidFill>
                  <a:schemeClr val="bg1"/>
                </a:solidFill>
                <a:latin typeface="Times New Roman" panose="02020603050405020304" pitchFamily="18" charset="0"/>
                <a:cs typeface="Times New Roman" panose="02020603050405020304" pitchFamily="18" charset="0"/>
              </a:rPr>
              <a:t>     </a:t>
            </a:r>
            <a:r>
              <a:rPr lang="fr-FR" sz="2400" b="1" u="sng" dirty="0">
                <a:solidFill>
                  <a:schemeClr val="bg1"/>
                </a:solidFill>
                <a:latin typeface="Times New Roman" panose="02020603050405020304" pitchFamily="18" charset="0"/>
                <a:cs typeface="Times New Roman" panose="02020603050405020304" pitchFamily="18" charset="0"/>
              </a:rPr>
              <a:t>Solution</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Utiliser la grille </a:t>
            </a:r>
            <a:r>
              <a:rPr lang="fr-FR" sz="2400" b="1" dirty="0">
                <a:solidFill>
                  <a:schemeClr val="bg1"/>
                </a:solidFill>
              </a:rPr>
              <a:t>CSS Grid</a:t>
            </a:r>
            <a:r>
              <a:rPr lang="fr-FR" sz="2400" dirty="0">
                <a:solidFill>
                  <a:schemeClr val="bg1"/>
                </a:solidFill>
              </a:rPr>
              <a:t> pour empiler automatiquement et proprement les cartes sur les smartphones.</a:t>
            </a:r>
          </a:p>
          <a:p>
            <a:endParaRPr lang="fr-FR" sz="2400" dirty="0">
              <a:solidFill>
                <a:schemeClr val="bg1"/>
              </a:solidFill>
            </a:endParaRPr>
          </a:p>
          <a:p>
            <a:r>
              <a:rPr lang="fr-FR" sz="2400" b="1" dirty="0">
                <a:solidFill>
                  <a:schemeClr val="bg1"/>
                </a:solidFill>
                <a:latin typeface="Times New Roman" panose="02020603050405020304" pitchFamily="18" charset="0"/>
                <a:cs typeface="Times New Roman" panose="02020603050405020304" pitchFamily="18" charset="0"/>
              </a:rPr>
              <a:t>2. </a:t>
            </a:r>
            <a:r>
              <a:rPr lang="fr-FR" sz="2400" b="1" u="sng" dirty="0">
                <a:solidFill>
                  <a:schemeClr val="bg1"/>
                </a:solidFill>
                <a:latin typeface="Times New Roman" panose="02020603050405020304" pitchFamily="18" charset="0"/>
                <a:cs typeface="Times New Roman" panose="02020603050405020304" pitchFamily="18" charset="0"/>
              </a:rPr>
              <a:t>Persistance du Dark Mode</a:t>
            </a:r>
          </a:p>
          <a:p>
            <a:r>
              <a:rPr lang="fr-FR" sz="2400" dirty="0">
                <a:solidFill>
                  <a:schemeClr val="bg1"/>
                </a:solidFill>
                <a:latin typeface="Times New Roman" panose="02020603050405020304" pitchFamily="18" charset="0"/>
                <a:cs typeface="Times New Roman" panose="02020603050405020304" pitchFamily="18" charset="0"/>
              </a:rPr>
              <a:t>    </a:t>
            </a:r>
            <a:r>
              <a:rPr lang="fr-FR" sz="2400" b="1" u="sng" dirty="0">
                <a:solidFill>
                  <a:schemeClr val="bg1"/>
                </a:solidFill>
                <a:latin typeface="Times New Roman" panose="02020603050405020304" pitchFamily="18" charset="0"/>
                <a:cs typeface="Times New Roman" panose="02020603050405020304" pitchFamily="18" charset="0"/>
              </a:rPr>
              <a:t>Difficulté</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Empêcher un flash blanc désagréable à l'écran quand on change de page en mode sombre.</a:t>
            </a:r>
          </a:p>
          <a:p>
            <a:r>
              <a:rPr lang="fr-FR" sz="2400" dirty="0">
                <a:solidFill>
                  <a:schemeClr val="bg1"/>
                </a:solidFill>
                <a:latin typeface="Times New Roman" panose="02020603050405020304" pitchFamily="18" charset="0"/>
                <a:cs typeface="Times New Roman" panose="02020603050405020304" pitchFamily="18" charset="0"/>
              </a:rPr>
              <a:t>    </a:t>
            </a:r>
            <a:r>
              <a:rPr lang="fr-FR" sz="2400" b="1" u="sng" dirty="0">
                <a:solidFill>
                  <a:schemeClr val="bg1"/>
                </a:solidFill>
                <a:latin typeface="Times New Roman" panose="02020603050405020304" pitchFamily="18" charset="0"/>
                <a:cs typeface="Times New Roman" panose="02020603050405020304" pitchFamily="18" charset="0"/>
              </a:rPr>
              <a:t>Solution</a:t>
            </a:r>
            <a:r>
              <a:rPr lang="fr-FR" sz="2400" dirty="0">
                <a:solidFill>
                  <a:schemeClr val="bg1"/>
                </a:solidFill>
                <a:latin typeface="Times New Roman" panose="02020603050405020304" pitchFamily="18" charset="0"/>
                <a:cs typeface="Times New Roman" panose="02020603050405020304" pitchFamily="18" charset="0"/>
              </a:rPr>
              <a:t>: </a:t>
            </a:r>
            <a:r>
              <a:rPr lang="fr-FR" sz="2400" dirty="0">
                <a:solidFill>
                  <a:schemeClr val="bg1"/>
                </a:solidFill>
              </a:rPr>
              <a:t>Sauvegarder le choix de l'utilisateur dans le </a:t>
            </a:r>
            <a:r>
              <a:rPr lang="fr-FR" sz="2400" b="1" dirty="0">
                <a:solidFill>
                  <a:schemeClr val="bg1"/>
                </a:solidFill>
              </a:rPr>
              <a:t>LocalStorage</a:t>
            </a:r>
            <a:r>
              <a:rPr lang="fr-FR" sz="2400" dirty="0">
                <a:solidFill>
                  <a:schemeClr val="bg1"/>
                </a:solidFill>
              </a:rPr>
              <a:t> pour appliquer la bonne couleur avant l'affichage du site.</a:t>
            </a:r>
            <a:endParaRPr lang="fr-FR"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7778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CC019AF-0807-0A4B-7750-D8E108A9BD1C}"/>
              </a:ext>
            </a:extLst>
          </p:cNvPr>
          <p:cNvSpPr txBox="1"/>
          <p:nvPr/>
        </p:nvSpPr>
        <p:spPr>
          <a:xfrm>
            <a:off x="2468880" y="0"/>
            <a:ext cx="7254241"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C.</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Ressources et document</a:t>
            </a:r>
            <a:r>
              <a:rPr lang="fr-FR" sz="4000" b="1" u="sng"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ation</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F764CA0C-5D41-4ADF-A53E-5107118FCC3D}"/>
              </a:ext>
            </a:extLst>
          </p:cNvPr>
          <p:cNvSpPr txBox="1"/>
          <p:nvPr/>
        </p:nvSpPr>
        <p:spPr>
          <a:xfrm>
            <a:off x="172720" y="911086"/>
            <a:ext cx="11846560" cy="4524315"/>
          </a:xfrm>
          <a:prstGeom prst="rect">
            <a:avLst/>
          </a:prstGeom>
          <a:noFill/>
        </p:spPr>
        <p:txBody>
          <a:bodyPr wrap="square" rtlCol="0">
            <a:spAutoFit/>
          </a:bodyPr>
          <a:lstStyle/>
          <a:p>
            <a:r>
              <a:rPr lang="fr-FR" sz="2400" b="1" u="sng" dirty="0">
                <a:solidFill>
                  <a:schemeClr val="bg1"/>
                </a:solidFill>
              </a:rPr>
              <a:t>MDN Web Docs </a:t>
            </a:r>
            <a:r>
              <a:rPr lang="fr-FR" sz="2400" b="1" dirty="0">
                <a:solidFill>
                  <a:schemeClr val="bg1"/>
                </a:solidFill>
              </a:rPr>
              <a:t>:</a:t>
            </a:r>
            <a:r>
              <a:rPr lang="fr-FR" sz="2400" dirty="0">
                <a:solidFill>
                  <a:schemeClr val="bg1"/>
                </a:solidFill>
              </a:rPr>
              <a:t> Le Mozilla Developer Network (MDN) fournit des guides complets sur les API du Web, notamment l'Intersection Observer pour les animations au défilement et l'objet Regex pour la validation des données. </a:t>
            </a:r>
            <a:r>
              <a:rPr lang="fr-FR" sz="2400" b="1" dirty="0">
                <a:solidFill>
                  <a:schemeClr val="bg1"/>
                </a:solidFill>
              </a:rPr>
              <a:t>https://developer.mozilla.org/fr/</a:t>
            </a:r>
          </a:p>
          <a:p>
            <a:endParaRPr lang="fr-FR" sz="2400" b="1" dirty="0">
              <a:solidFill>
                <a:schemeClr val="bg1"/>
              </a:solidFill>
              <a:latin typeface="Times New Roman" panose="02020603050405020304" pitchFamily="18" charset="0"/>
              <a:cs typeface="Times New Roman" panose="02020603050405020304" pitchFamily="18" charset="0"/>
            </a:endParaRPr>
          </a:p>
          <a:p>
            <a:r>
              <a:rPr lang="fr-FR" sz="2400" b="1" u="sng" dirty="0">
                <a:solidFill>
                  <a:schemeClr val="bg1"/>
                </a:solidFill>
              </a:rPr>
              <a:t>Bootstrap 5 Docs </a:t>
            </a:r>
            <a:r>
              <a:rPr lang="fr-FR" sz="2400" b="1" dirty="0">
                <a:solidFill>
                  <a:schemeClr val="bg1"/>
                </a:solidFill>
              </a:rPr>
              <a:t>:</a:t>
            </a:r>
            <a:r>
              <a:rPr lang="fr-FR" sz="2400" dirty="0">
                <a:solidFill>
                  <a:schemeClr val="bg1"/>
                </a:solidFill>
              </a:rPr>
              <a:t>  La documentation officielle de Bootstrap 5 détaille l'utilisation du système de grille responsive, des composants d'interface dynamiques et des classes utilitaires pour concevoir des mises en page modernes.  </a:t>
            </a:r>
            <a:r>
              <a:rPr lang="fr-FR" sz="2400" b="1" dirty="0">
                <a:solidFill>
                  <a:schemeClr val="bg1"/>
                </a:solidFill>
              </a:rPr>
              <a:t>https://getbootstrap.com/docs/5.3/</a:t>
            </a:r>
          </a:p>
          <a:p>
            <a:endParaRPr lang="fr-FR" sz="2400" b="1" dirty="0">
              <a:solidFill>
                <a:schemeClr val="bg1"/>
              </a:solidFill>
              <a:latin typeface="Times New Roman" panose="02020603050405020304" pitchFamily="18" charset="0"/>
              <a:cs typeface="Times New Roman" panose="02020603050405020304" pitchFamily="18" charset="0"/>
            </a:endParaRPr>
          </a:p>
          <a:p>
            <a:r>
              <a:rPr lang="fr-FR" sz="2400" b="1" u="sng" dirty="0">
                <a:solidFill>
                  <a:schemeClr val="bg1"/>
                </a:solidFill>
              </a:rPr>
              <a:t>W3C Validator </a:t>
            </a:r>
            <a:r>
              <a:rPr lang="fr-FR" sz="2400" b="1" dirty="0">
                <a:solidFill>
                  <a:schemeClr val="bg1"/>
                </a:solidFill>
              </a:rPr>
              <a:t>: </a:t>
            </a:r>
            <a:r>
              <a:rPr lang="fr-FR" sz="2400" dirty="0">
                <a:solidFill>
                  <a:schemeClr val="bg1"/>
                </a:solidFill>
              </a:rPr>
              <a:t>Le validateur du W3C permet de vérifier la conformité des documents HTML par rapport aux standards du Web, garantissant ainsi l'accessibilité et la qualité technique du code. </a:t>
            </a:r>
            <a:r>
              <a:rPr lang="fr-FR" sz="2400" b="1" dirty="0">
                <a:solidFill>
                  <a:schemeClr val="bg1"/>
                </a:solidFill>
              </a:rPr>
              <a:t>https://validator.w3.org/</a:t>
            </a:r>
            <a:endParaRPr lang="fr-FR" sz="2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737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361D4B7-7E07-9BFF-96DF-818BBDAB0061}"/>
              </a:ext>
            </a:extLst>
          </p:cNvPr>
          <p:cNvSpPr txBox="1"/>
          <p:nvPr/>
        </p:nvSpPr>
        <p:spPr>
          <a:xfrm>
            <a:off x="3870960" y="132080"/>
            <a:ext cx="4450080" cy="743473"/>
          </a:xfrm>
          <a:prstGeom prst="rect">
            <a:avLst/>
          </a:prstGeom>
          <a:noFill/>
        </p:spPr>
        <p:txBody>
          <a:bodyPr wrap="square">
            <a:spAutoFit/>
          </a:bodyPr>
          <a:lstStyle/>
          <a:p>
            <a:pPr lvl="0">
              <a:lnSpc>
                <a:spcPct val="115000"/>
              </a:lnSpc>
              <a:spcAft>
                <a:spcPts val="800"/>
              </a:spcAft>
              <a:buSzPts val="1000"/>
              <a:tabLst>
                <a:tab pos="457200" algn="l"/>
              </a:tabLst>
            </a:pPr>
            <a:r>
              <a:rPr lang="fr-FR" sz="40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VI</a:t>
            </a: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CONCLUSION</a:t>
            </a:r>
            <a:r>
              <a:rPr lang="fr-FR" sz="40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fr-FR" sz="4000" b="1" u="sng"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3" name="ZoneTexte 2">
            <a:extLst>
              <a:ext uri="{FF2B5EF4-FFF2-40B4-BE49-F238E27FC236}">
                <a16:creationId xmlns:a16="http://schemas.microsoft.com/office/drawing/2014/main" id="{0EC98B84-7B1D-5454-529E-EBDAF2FDE1CF}"/>
              </a:ext>
            </a:extLst>
          </p:cNvPr>
          <p:cNvSpPr txBox="1"/>
          <p:nvPr/>
        </p:nvSpPr>
        <p:spPr>
          <a:xfrm>
            <a:off x="3515360" y="1442720"/>
            <a:ext cx="516128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A.</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Démonstration Live</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189BEB1E-170A-20FB-4D55-92A49934B059}"/>
              </a:ext>
            </a:extLst>
          </p:cNvPr>
          <p:cNvSpPr txBox="1"/>
          <p:nvPr/>
        </p:nvSpPr>
        <p:spPr>
          <a:xfrm>
            <a:off x="538480" y="3082299"/>
            <a:ext cx="10942320" cy="1952522"/>
          </a:xfrm>
          <a:prstGeom prst="rect">
            <a:avLst/>
          </a:prstGeom>
          <a:noFill/>
        </p:spPr>
        <p:txBody>
          <a:bodyPr wrap="square">
            <a:spAutoFit/>
          </a:bodyPr>
          <a:lstStyle/>
          <a:p>
            <a:pPr lvl="1">
              <a:lnSpc>
                <a:spcPct val="115000"/>
              </a:lnSpc>
              <a:spcAft>
                <a:spcPts val="800"/>
              </a:spcAft>
              <a:buSzPts val="1000"/>
              <a:tabLst>
                <a:tab pos="914400" algn="l"/>
              </a:tabLst>
            </a:pPr>
            <a:r>
              <a:rPr lang="fr-FR" sz="3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Navigation rapide sur le site pour montrer l'interactivité (scroll, filtres, dark mode).</a:t>
            </a:r>
            <a:r>
              <a:rPr lang="fr-FR" sz="3600" b="1" dirty="0">
                <a:solidFill>
                  <a:schemeClr val="bg1"/>
                </a:solidFill>
                <a:latin typeface="Times New Roman" panose="02020603050405020304" pitchFamily="18" charset="0"/>
                <a:cs typeface="Times New Roman" panose="02020603050405020304" pitchFamily="18" charset="0"/>
              </a:rPr>
              <a:t> </a:t>
            </a:r>
            <a:r>
              <a:rPr lang="fr-FR" sz="3600" b="1"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https://btan172.github.io/Aphie-Noakh-AfriTalent/</a:t>
            </a:r>
            <a:endParaRPr lang="fr-FR" sz="3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48925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27484AF-C2F1-7069-EBA0-C1FF78500466}"/>
              </a:ext>
            </a:extLst>
          </p:cNvPr>
          <p:cNvSpPr txBox="1"/>
          <p:nvPr/>
        </p:nvSpPr>
        <p:spPr>
          <a:xfrm>
            <a:off x="3312160" y="0"/>
            <a:ext cx="556768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B.</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Bilan et perspectives</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57FA5777-E98D-2503-A75E-DA8D1A6E62F5}"/>
              </a:ext>
            </a:extLst>
          </p:cNvPr>
          <p:cNvSpPr txBox="1"/>
          <p:nvPr/>
        </p:nvSpPr>
        <p:spPr>
          <a:xfrm>
            <a:off x="264160" y="1152893"/>
            <a:ext cx="11663680" cy="4832092"/>
          </a:xfrm>
          <a:prstGeom prst="rect">
            <a:avLst/>
          </a:prstGeom>
          <a:noFill/>
        </p:spPr>
        <p:txBody>
          <a:bodyPr wrap="square" rtlCol="0">
            <a:spAutoFit/>
          </a:bodyPr>
          <a:lstStyle/>
          <a:p>
            <a:pPr algn="ctr"/>
            <a:r>
              <a:rPr lang="fr-FR" sz="2800" b="1" dirty="0">
                <a:solidFill>
                  <a:schemeClr val="bg1"/>
                </a:solidFill>
                <a:latin typeface="Times New Roman" panose="02020603050405020304" pitchFamily="18" charset="0"/>
                <a:cs typeface="Times New Roman" panose="02020603050405020304" pitchFamily="18" charset="0"/>
              </a:rPr>
              <a:t>Pour la sécurité et le backend:</a:t>
            </a:r>
          </a:p>
          <a:p>
            <a:r>
              <a:rPr lang="fr-FR" sz="2800" b="1" u="sng" dirty="0">
                <a:solidFill>
                  <a:schemeClr val="bg1"/>
                </a:solidFill>
                <a:latin typeface="Times New Roman" panose="02020603050405020304" pitchFamily="18" charset="0"/>
                <a:cs typeface="Times New Roman" panose="02020603050405020304" pitchFamily="18" charset="0"/>
              </a:rPr>
              <a:t>Validation coté serveur</a:t>
            </a:r>
            <a:r>
              <a:rPr lang="fr-FR" sz="2800" b="1" dirty="0">
                <a:solidFill>
                  <a:schemeClr val="bg1"/>
                </a:solidFill>
                <a:latin typeface="Times New Roman" panose="02020603050405020304" pitchFamily="18" charset="0"/>
                <a:cs typeface="Times New Roman" panose="02020603050405020304" pitchFamily="18" charset="0"/>
              </a:rPr>
              <a:t>: </a:t>
            </a:r>
            <a:r>
              <a:rPr lang="fr-FR" sz="2800" dirty="0">
                <a:solidFill>
                  <a:schemeClr val="bg1"/>
                </a:solidFill>
                <a:latin typeface="Times New Roman" panose="02020603050405020304" pitchFamily="18" charset="0"/>
                <a:cs typeface="Times New Roman" panose="02020603050405020304" pitchFamily="18" charset="0"/>
              </a:rPr>
              <a:t>Implémenter des scripts pour doubler la sécurité de la validation par Regex.</a:t>
            </a:r>
          </a:p>
          <a:p>
            <a:r>
              <a:rPr lang="fr-FR" sz="2800" b="1" u="sng" dirty="0">
                <a:solidFill>
                  <a:schemeClr val="bg1"/>
                </a:solidFill>
                <a:latin typeface="Times New Roman" panose="02020603050405020304" pitchFamily="18" charset="0"/>
                <a:cs typeface="Times New Roman" panose="02020603050405020304" pitchFamily="18" charset="0"/>
              </a:rPr>
              <a:t>Base de données relationnelle</a:t>
            </a:r>
            <a:r>
              <a:rPr lang="fr-FR" sz="2800" b="1" dirty="0">
                <a:solidFill>
                  <a:schemeClr val="bg1"/>
                </a:solidFill>
                <a:latin typeface="Times New Roman" panose="02020603050405020304" pitchFamily="18" charset="0"/>
                <a:cs typeface="Times New Roman" panose="02020603050405020304" pitchFamily="18" charset="0"/>
              </a:rPr>
              <a:t>: </a:t>
            </a:r>
            <a:r>
              <a:rPr lang="fr-FR" sz="2800" dirty="0">
                <a:solidFill>
                  <a:schemeClr val="bg1"/>
                </a:solidFill>
                <a:latin typeface="Times New Roman" panose="02020603050405020304" pitchFamily="18" charset="0"/>
                <a:cs typeface="Times New Roman" panose="02020603050405020304" pitchFamily="18" charset="0"/>
              </a:rPr>
              <a:t>Connecter le site à une base de données pour inscrire réellement les freelances et stocker les messages de contact.</a:t>
            </a:r>
          </a:p>
          <a:p>
            <a:endParaRPr lang="fr-FR" sz="2800" dirty="0">
              <a:solidFill>
                <a:schemeClr val="bg1"/>
              </a:solidFill>
              <a:latin typeface="Times New Roman" panose="02020603050405020304" pitchFamily="18" charset="0"/>
              <a:cs typeface="Times New Roman" panose="02020603050405020304" pitchFamily="18" charset="0"/>
            </a:endParaRPr>
          </a:p>
          <a:p>
            <a:pPr algn="ctr"/>
            <a:r>
              <a:rPr lang="fr-FR" sz="2800" b="1" dirty="0">
                <a:solidFill>
                  <a:schemeClr val="bg1"/>
                </a:solidFill>
                <a:latin typeface="Times New Roman" panose="02020603050405020304" pitchFamily="18" charset="0"/>
                <a:cs typeface="Times New Roman" panose="02020603050405020304" pitchFamily="18" charset="0"/>
              </a:rPr>
              <a:t>Pour les fonctionnalités et l’expérience utilisateur:</a:t>
            </a:r>
          </a:p>
          <a:p>
            <a:r>
              <a:rPr lang="fr-FR" sz="2800" b="1" u="sng" dirty="0">
                <a:solidFill>
                  <a:schemeClr val="bg1"/>
                </a:solidFill>
                <a:latin typeface="Times New Roman" panose="02020603050405020304" pitchFamily="18" charset="0"/>
                <a:cs typeface="Times New Roman" panose="02020603050405020304" pitchFamily="18" charset="0"/>
              </a:rPr>
              <a:t>Moteur de recherche avancé</a:t>
            </a:r>
            <a:r>
              <a:rPr lang="fr-FR" sz="2800" b="1" dirty="0">
                <a:solidFill>
                  <a:schemeClr val="bg1"/>
                </a:solidFill>
                <a:latin typeface="Times New Roman" panose="02020603050405020304" pitchFamily="18" charset="0"/>
                <a:cs typeface="Times New Roman" panose="02020603050405020304" pitchFamily="18" charset="0"/>
              </a:rPr>
              <a:t>: </a:t>
            </a:r>
            <a:r>
              <a:rPr lang="fr-FR" sz="2800" dirty="0">
                <a:solidFill>
                  <a:schemeClr val="bg1"/>
                </a:solidFill>
                <a:latin typeface="Times New Roman" panose="02020603050405020304" pitchFamily="18" charset="0"/>
                <a:cs typeface="Times New Roman" panose="02020603050405020304" pitchFamily="18" charset="0"/>
              </a:rPr>
              <a:t>Ajouter une barre de recherche textuelle combinée à des filtres par compétences clés, tarifs ou localisation géographique.</a:t>
            </a:r>
          </a:p>
          <a:p>
            <a:r>
              <a:rPr lang="fr-FR" sz="2800" b="1" u="sng" dirty="0">
                <a:solidFill>
                  <a:schemeClr val="bg1"/>
                </a:solidFill>
                <a:latin typeface="Times New Roman" panose="02020603050405020304" pitchFamily="18" charset="0"/>
                <a:cs typeface="Times New Roman" panose="02020603050405020304" pitchFamily="18" charset="0"/>
              </a:rPr>
              <a:t>Système de messagerie interne</a:t>
            </a:r>
            <a:r>
              <a:rPr lang="fr-FR" sz="2800" b="1" dirty="0">
                <a:solidFill>
                  <a:schemeClr val="bg1"/>
                </a:solidFill>
                <a:latin typeface="Times New Roman" panose="02020603050405020304" pitchFamily="18" charset="0"/>
                <a:cs typeface="Times New Roman" panose="02020603050405020304" pitchFamily="18" charset="0"/>
              </a:rPr>
              <a:t>:</a:t>
            </a:r>
            <a:r>
              <a:rPr lang="fr-FR" sz="2800" dirty="0">
                <a:solidFill>
                  <a:schemeClr val="bg1"/>
                </a:solidFill>
                <a:latin typeface="Times New Roman" panose="02020603050405020304" pitchFamily="18" charset="0"/>
                <a:cs typeface="Times New Roman" panose="02020603050405020304" pitchFamily="18" charset="0"/>
              </a:rPr>
              <a:t> Intégrer un chat en temps réel pour que les entreprises puissent contacter directement les talents.</a:t>
            </a:r>
          </a:p>
        </p:txBody>
      </p:sp>
    </p:spTree>
    <p:extLst>
      <p:ext uri="{BB962C8B-B14F-4D97-AF65-F5344CB8AC3E}">
        <p14:creationId xmlns:p14="http://schemas.microsoft.com/office/powerpoint/2010/main" val="1931345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C57E379-3517-806C-475B-2D2FC8DBB58D}"/>
              </a:ext>
            </a:extLst>
          </p:cNvPr>
          <p:cNvSpPr txBox="1"/>
          <p:nvPr/>
        </p:nvSpPr>
        <p:spPr>
          <a:xfrm>
            <a:off x="2413000" y="223520"/>
            <a:ext cx="7366000" cy="707886"/>
          </a:xfrm>
          <a:prstGeom prst="rect">
            <a:avLst/>
          </a:prstGeom>
          <a:noFill/>
        </p:spPr>
        <p:txBody>
          <a:bodyPr wrap="square">
            <a:spAutoFit/>
          </a:bodyPr>
          <a:lstStyle/>
          <a:p>
            <a:r>
              <a:rPr lang="fr-FR" sz="4000" b="1"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C.</a:t>
            </a:r>
            <a:r>
              <a:rPr lang="fr-FR" sz="4000" b="1"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fr-FR" sz="4000" b="1" u="sng"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Remerciements et questions</a:t>
            </a:r>
            <a:endParaRPr lang="fr-FR" sz="4000" u="sng"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3CCBC3D5-8EA9-5B1E-7569-4B320425B122}"/>
              </a:ext>
            </a:extLst>
          </p:cNvPr>
          <p:cNvSpPr txBox="1"/>
          <p:nvPr/>
        </p:nvSpPr>
        <p:spPr>
          <a:xfrm>
            <a:off x="355600" y="1588168"/>
            <a:ext cx="11379200" cy="5078313"/>
          </a:xfrm>
          <a:prstGeom prst="rect">
            <a:avLst/>
          </a:prstGeom>
          <a:noFill/>
        </p:spPr>
        <p:txBody>
          <a:bodyPr wrap="square" rtlCol="0">
            <a:spAutoFit/>
          </a:bodyPr>
          <a:lstStyle/>
          <a:p>
            <a:r>
              <a:rPr lang="fr-FR" sz="3600" dirty="0">
                <a:solidFill>
                  <a:schemeClr val="bg1"/>
                </a:solidFill>
                <a:latin typeface="Times New Roman" panose="02020603050405020304" pitchFamily="18" charset="0"/>
                <a:cs typeface="Times New Roman" panose="02020603050405020304" pitchFamily="18" charset="0"/>
              </a:rPr>
              <a:t>Je vous remercie, cher prof et chers collègues pour votre attention.</a:t>
            </a:r>
          </a:p>
          <a:p>
            <a:endParaRPr lang="fr-FR" sz="3600" dirty="0">
              <a:solidFill>
                <a:schemeClr val="bg1"/>
              </a:solidFill>
              <a:latin typeface="Times New Roman" panose="02020603050405020304" pitchFamily="18" charset="0"/>
              <a:cs typeface="Times New Roman" panose="02020603050405020304" pitchFamily="18" charset="0"/>
            </a:endParaRPr>
          </a:p>
          <a:p>
            <a:r>
              <a:rPr lang="fr-FR" sz="3600" dirty="0">
                <a:solidFill>
                  <a:schemeClr val="bg1"/>
                </a:solidFill>
                <a:latin typeface="Times New Roman" panose="02020603050405020304" pitchFamily="18" charset="0"/>
                <a:cs typeface="Times New Roman" panose="02020603050405020304" pitchFamily="18" charset="0"/>
              </a:rPr>
              <a:t>Ce travail m’a permis de concrétiser mes compétences techniques en développement et d’intégrer les bonnes pratiques de validation et de sécurité.</a:t>
            </a:r>
          </a:p>
          <a:p>
            <a:endParaRPr lang="fr-FR" sz="3600" dirty="0">
              <a:solidFill>
                <a:schemeClr val="bg1"/>
              </a:solidFill>
              <a:latin typeface="Times New Roman" panose="02020603050405020304" pitchFamily="18" charset="0"/>
              <a:cs typeface="Times New Roman" panose="02020603050405020304" pitchFamily="18" charset="0"/>
            </a:endParaRPr>
          </a:p>
          <a:p>
            <a:r>
              <a:rPr lang="fr-FR" sz="3600" dirty="0">
                <a:solidFill>
                  <a:schemeClr val="bg1"/>
                </a:solidFill>
                <a:latin typeface="Times New Roman" panose="02020603050405020304" pitchFamily="18" charset="0"/>
                <a:cs typeface="Times New Roman" panose="02020603050405020304" pitchFamily="18" charset="0"/>
              </a:rPr>
              <a:t>Le projet est désormais ouvert à vos remarques et je suis à votre disposition pour notre session  de questions/réponses.</a:t>
            </a:r>
          </a:p>
        </p:txBody>
      </p:sp>
    </p:spTree>
    <p:extLst>
      <p:ext uri="{BB962C8B-B14F-4D97-AF65-F5344CB8AC3E}">
        <p14:creationId xmlns:p14="http://schemas.microsoft.com/office/powerpoint/2010/main" val="213056046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1942</TotalTime>
  <Words>1533</Words>
  <Application>Microsoft Office PowerPoint</Application>
  <PresentationFormat>Grand écran</PresentationFormat>
  <Paragraphs>121</Paragraphs>
  <Slides>15</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Aptos</vt:lpstr>
      <vt:lpstr>Aptos Display</vt:lpstr>
      <vt:lpstr>Arial</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43</cp:revision>
  <dcterms:created xsi:type="dcterms:W3CDTF">2026-05-05T10:22:11Z</dcterms:created>
  <dcterms:modified xsi:type="dcterms:W3CDTF">2026-06-04T10:26:01Z</dcterms:modified>
</cp:coreProperties>
</file>